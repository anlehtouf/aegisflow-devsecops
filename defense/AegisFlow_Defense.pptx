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AegisFlow, a DevSecOps platform I built to answer one question: can security be enforced automatically at every stage of software delivery, with measurable results? The short answer is yes — and I'll prove it in fifteen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tell the story. First: late fixes cost 100x more — every vulnerability that escapes the developer's machine compounds expensively. Second: secrets in code are a structural failure of trust — millions are exposed every year. Third: one vulnerable dependency in one library — Log4j — created a global incident response. The pattern: security is treated as audit, not as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AegisFlow takes four positions. First, scan at every stage so problems are found by the cheapest possible actor — the pipeline. Second, every release produces a Software Bill of Materials and a Sigstore signature, so it's verifiable downstream. Third, the gates are blocking, not advisory — there is no 'approve anyway' button. Fourth, every claim in this presentation maps to a committed artifact you can audit after I leave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planes. The developer plane uses pre-commit hooks and IDE linting for fast feedback. The GitHub plane runs the 22-stage CI/CD pipeline, signs images via OIDC keyless flow against Sigstore's public Fulcio CA, records the signature in Rekor's transparency log, and publishes to GitHub Container Registry. The staging plane is single-host Docker Compose with two networks — application and observability — and named volumes for persistence. The pipeline is portable: the same flow targets Kubernetes or ECS Fargate with no rewrite, which is on the Future Work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SecureTrack is intentionally simple — it's the target of the security platform, not the focus. What matters is that it's deliberately vulnerable. I planted 15 representative flaws across the OWASP Top 10: hardcoded secrets, SQL injection, XSS, vulnerable lodash, outdated base image, missing rate limiting, weak password policy, CORS wildcard, and others. The pipeline's job is to catch every single one and refuse to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22 stages. Five are explicit blocking gates: Gitleaks, Semgrep SAST, SonarCloud quality, Trivy SCA, Trivy image scan plus Conftest policy. The chain is enforced — failure at gate 1 means the image never builds. Failure at gate 2 means the image never publishes. Eight security tools cover six categories — secrets, SAST, code quality, SCA, container CVE, and policy as code. Plus DAST and SBOM. The pipeline is committed in .github/workflows/ci-pipeline.yml — 794 lines, version-pinned, runnable on a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demonstration. Iteration 1: I push code with a hardcoded JWT secret. Gitleaks fires, gate 1 blocks, pipeline stops. Two minutes feedback to the developer instead of two weeks to a security auditor. Iteration 2: I remove the secret and push again. Gitleaks passes, Semgrep now finds the SQL injection on the incidents query. Gate 1 blocks again. Iteration 3: I parameterize the query, push, and now everything is green: Gitleaks, Semgrep, SonarCloud, Trivy filesystem, Trivy image, Hadolint, Conftest. Cosign signs the image, Syft generates the SBOM, GHCR receives the signed artifact, ZAP scans the running staging. Each red and each green commit is a real commit in the git log — the jury can replay this narrative deterministically.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walk through four windows. First, the red run — note the specific gates that fail. Second, the green run — every job green, signed image at the bottom. Third, the terminal — cosign verify against the image digest, the signature comes back valid, certificate identity matches the workflow. Fourth, the application running locally. If GitHub Actions is slow: switch to the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directly from the committed scan reports — reports/BASELINE_SUMMARY.md for the left column and reports/HARDENED_SUMMARY.md for the right. The most important row is image critical CVEs: 16 to zero, just by switching the base image from node:16 to node:20-alpine. The most defensible row is the bottom two: zero signed images becomes two-out-of-two, with the signatures cryptographically anchored to a public transparency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supply-chain story is what separates a DevOps project from a DevSecOps project. We don't ship anonymous images. The pipeline obtains a short-lived OIDC token from GitHub, exchanges it at Sigstore's Fulcio CA for a signing certificate tied to the specific workflow run, signs the image, records the signature in Rekor — a public transparency log. Anyone, anywhere, can independently verify that this exact image was built by this exact workflow on this exact commit. Zero private keys to manage, zero trust in opaque registries.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use Semgrep. I wrote a Semgrep rule. This one targets the CORS wildcard pattern in four variants: explicit star, origin true which Express interprets as reflect-origin and is just as bad, manual setHeader with a wildcard, and bare app.use(cors()) with no config. It carries OWASP A05 and CWE-942 metadata so it integrates with SARIF dashboards. This rule is also tagged confidence HIGH, likelihood HIGH, impact HIGH — meaning it will not be a false-positive warning, it will be a blocking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frameworks, ten controls. The mapping is in docs/compliance-mapping.md. This matters because it makes the project relevant beyond academic — it's how an organization would justify a DevSecOps investment to auditors and regulators.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scope. Mine: single host, baseline DAST, demo-scale data. Why? Because the goal is to demonstrate methodology end-to-end, not to operate a fleet. The pipeline is portable — same workflow with three env-var changes targets ECS Fargate, which I designed in detail in the project blueprint. I prefer to ship a complete narrow scope than a half-built broad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directions to extend. Cloud deployment is the closest — the architecture diagram already shows the target. Runtime threat detection adds the SIEM layer. GitOps adds the multi-environment promotion. IAST closes the gap between static and dynamic by instrumenting the running application. Each is a non-trivial engineering effort; each is unlocked by what's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summary: AegisFlow makes insecure delivery structurally difficult. Not discouraged, not audited — structurally difficult. The pipeline either ships a signed, scanned, SBOM-attested artifact, or it ships nothing.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3657600" y="594360"/>
            <a:ext cx="1828800" cy="1828800"/>
          </a:xfrm>
          <a:prstGeom prst="roundRect">
            <a:avLst>
              <a:gd name="adj" fmla="val 20000"/>
            </a:avLst>
          </a:prstGeom>
          <a:solidFill>
            <a:srgbClr val="7B42BC"/>
          </a:solidFill>
          <a:ln w="38100">
            <a:solidFill>
              <a:srgbClr val="FFB400"/>
            </a:solidFill>
            <a:prstDash val="solid"/>
          </a:ln>
        </p:spPr>
      </p:sp>
      <p:sp>
        <p:nvSpPr>
          <p:cNvPr id="3" name="Text 1"/>
          <p:cNvSpPr/>
          <p:nvPr/>
        </p:nvSpPr>
        <p:spPr>
          <a:xfrm>
            <a:off x="3657600" y="777240"/>
            <a:ext cx="1828800" cy="1463040"/>
          </a:xfrm>
          <a:prstGeom prst="rect">
            <a:avLst/>
          </a:prstGeom>
          <a:noFill/>
          <a:ln/>
        </p:spPr>
        <p:txBody>
          <a:bodyPr wrap="square" lIns="0" tIns="0" rIns="0" bIns="0" rtlCol="0" anchor="ctr"/>
          <a:lstStyle/>
          <a:p>
            <a:pPr algn="ctr" indent="0" marL="0">
              <a:buNone/>
            </a:pPr>
            <a:r>
              <a:rPr lang="en-US" sz="11000" b="1" dirty="0">
                <a:solidFill>
                  <a:srgbClr val="FFFFFF"/>
                </a:solidFill>
                <a:latin typeface="Arial Black" pitchFamily="34" charset="0"/>
                <a:ea typeface="Arial Black" pitchFamily="34" charset="-122"/>
                <a:cs typeface="Arial Black" pitchFamily="34" charset="-120"/>
              </a:rPr>
              <a:t>A</a:t>
            </a:r>
            <a:endParaRPr lang="en-US" sz="11000" dirty="0"/>
          </a:p>
        </p:txBody>
      </p:sp>
      <p:sp>
        <p:nvSpPr>
          <p:cNvPr id="4" name="Text 2"/>
          <p:cNvSpPr/>
          <p:nvPr/>
        </p:nvSpPr>
        <p:spPr>
          <a:xfrm>
            <a:off x="457200" y="2606040"/>
            <a:ext cx="8229600" cy="6400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Black" pitchFamily="34" charset="0"/>
                <a:ea typeface="Arial Black" pitchFamily="34" charset="-122"/>
                <a:cs typeface="Arial Black" pitchFamily="34" charset="-120"/>
              </a:rPr>
              <a:t>AegisFlow</a:t>
            </a:r>
            <a:endParaRPr lang="en-US" sz="5400" dirty="0"/>
          </a:p>
        </p:txBody>
      </p:sp>
      <p:sp>
        <p:nvSpPr>
          <p:cNvPr id="5" name="Text 3"/>
          <p:cNvSpPr/>
          <p:nvPr/>
        </p:nvSpPr>
        <p:spPr>
          <a:xfrm>
            <a:off x="457200" y="3246120"/>
            <a:ext cx="8229600" cy="457200"/>
          </a:xfrm>
          <a:prstGeom prst="rect">
            <a:avLst/>
          </a:prstGeom>
          <a:noFill/>
          <a:ln/>
        </p:spPr>
        <p:txBody>
          <a:bodyPr wrap="square" lIns="0" tIns="0" rIns="0" bIns="0" rtlCol="0" anchor="ctr"/>
          <a:lstStyle/>
          <a:p>
            <a:pPr algn="ctr" indent="0" marL="0">
              <a:buNone/>
            </a:pPr>
            <a:r>
              <a:rPr lang="en-US" sz="2200" i="1" dirty="0">
                <a:solidFill>
                  <a:srgbClr val="FFB400"/>
                </a:solidFill>
                <a:latin typeface="Calibri" pitchFamily="34" charset="0"/>
                <a:ea typeface="Calibri" pitchFamily="34" charset="-122"/>
                <a:cs typeface="Calibri" pitchFamily="34" charset="-120"/>
              </a:rPr>
              <a:t>DevSecOps with a built-in shield</a:t>
            </a:r>
            <a:endParaRPr lang="en-US" sz="2200" dirty="0"/>
          </a:p>
        </p:txBody>
      </p:sp>
      <p:sp>
        <p:nvSpPr>
          <p:cNvPr id="6" name="Text 4"/>
          <p:cNvSpPr/>
          <p:nvPr/>
        </p:nvSpPr>
        <p:spPr>
          <a:xfrm>
            <a:off x="457200" y="3749040"/>
            <a:ext cx="8229600" cy="274320"/>
          </a:xfrm>
          <a:prstGeom prst="rect">
            <a:avLst/>
          </a:prstGeom>
          <a:noFill/>
          <a:ln/>
        </p:spPr>
        <p:txBody>
          <a:bodyPr wrap="square" lIns="0" tIns="0" rIns="0" bIns="0" rtlCol="0" anchor="ctr"/>
          <a:lstStyle/>
          <a:p>
            <a:pPr algn="ctr" indent="0" marL="0">
              <a:buNone/>
            </a:pPr>
            <a:r>
              <a:rPr lang="en-US" sz="1400" dirty="0">
                <a:solidFill>
                  <a:srgbClr val="9B6BD9"/>
                </a:solidFill>
              </a:rPr>
              <a:t>•  •  •</a:t>
            </a:r>
            <a:endParaRPr lang="en-US" sz="1400" dirty="0"/>
          </a:p>
        </p:txBody>
      </p:sp>
      <p:sp>
        <p:nvSpPr>
          <p:cNvPr id="7" name="Text 5"/>
          <p:cNvSpPr/>
          <p:nvPr/>
        </p:nvSpPr>
        <p:spPr>
          <a:xfrm>
            <a:off x="457200" y="4069080"/>
            <a:ext cx="8229600" cy="914400"/>
          </a:xfrm>
          <a:prstGeom prst="rect">
            <a:avLst/>
          </a:prstGeom>
          <a:noFill/>
          <a:ln/>
        </p:spPr>
        <p:txBody>
          <a:bodyPr wrap="square" lIns="0" tIns="0" rIns="0" bIns="0" rtlCol="0" anchor="ctr"/>
          <a:lstStyle/>
          <a:p>
            <a:pPr algn="ctr" indent="0" marL="0">
              <a:buNone/>
            </a:pPr>
            <a:r>
              <a:rPr lang="en-US" sz="1400" dirty="0">
                <a:solidFill>
                  <a:srgbClr val="F5F5F7"/>
                </a:solidFill>
                <a:latin typeface="Calibri" pitchFamily="34" charset="0"/>
                <a:ea typeface="Calibri" pitchFamily="34" charset="-122"/>
                <a:cs typeface="Calibri" pitchFamily="34" charset="-120"/>
              </a:rPr>
              <a:t>End-of-studies project (PFE) · 2026</a:t>
            </a:r>
            <a:endParaRPr lang="en-US" sz="1400" dirty="0"/>
          </a:p>
          <a:p>
            <a:pPr algn="ctr" indent="0" marL="0">
              <a:buNone/>
            </a:pPr>
            <a:r>
              <a:rPr lang="en-US" sz="1200" dirty="0">
                <a:solidFill>
                  <a:srgbClr val="B8B5C0"/>
                </a:solidFill>
                <a:latin typeface="Calibri" pitchFamily="34" charset="0"/>
                <a:ea typeface="Calibri" pitchFamily="34" charset="-122"/>
                <a:cs typeface="Calibri" pitchFamily="34" charset="-120"/>
              </a:rPr>
              <a:t>Anlehtouf · Supervisor name · University</a:t>
            </a:r>
            <a:endParaRPr lang="en-US" sz="1400" dirty="0"/>
          </a:p>
          <a:p>
            <a:pPr algn="ctr" indent="0" marL="0">
              <a:buNone/>
            </a:pPr>
            <a:r>
              <a:rPr lang="en-US" sz="1200" dirty="0">
                <a:solidFill>
                  <a:srgbClr val="FFB400"/>
                </a:solidFill>
                <a:latin typeface="Consolas" pitchFamily="34" charset="0"/>
                <a:ea typeface="Consolas" pitchFamily="34" charset="-122"/>
                <a:cs typeface="Consolas" pitchFamily="34" charset="-120"/>
              </a:rPr>
              <a:t>github.com/anlehtouf/AegisFlow-DevSecOps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Problem</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411480" y="1280160"/>
            <a:ext cx="2651760" cy="2743200"/>
          </a:xfrm>
          <a:prstGeom prst="rect">
            <a:avLst/>
          </a:prstGeom>
          <a:solidFill>
            <a:srgbClr val="241934"/>
          </a:solidFill>
          <a:ln w="12700">
            <a:solidFill>
              <a:srgbClr val="7B42BC"/>
            </a:solidFill>
            <a:prstDash val="solid"/>
          </a:ln>
        </p:spPr>
      </p:sp>
      <p:sp>
        <p:nvSpPr>
          <p:cNvPr id="6" name="Text 4"/>
          <p:cNvSpPr/>
          <p:nvPr/>
        </p:nvSpPr>
        <p:spPr>
          <a:xfrm>
            <a:off x="411480" y="1417320"/>
            <a:ext cx="2651760" cy="1097280"/>
          </a:xfrm>
          <a:prstGeom prst="rect">
            <a:avLst/>
          </a:prstGeom>
          <a:noFill/>
          <a:ln/>
        </p:spPr>
        <p:txBody>
          <a:bodyPr wrap="square" lIns="0" tIns="0" rIns="0" bIns="0" rtlCol="0" anchor="ctr"/>
          <a:lstStyle/>
          <a:p>
            <a:pPr algn="ctr" indent="0" marL="0">
              <a:buNone/>
            </a:pPr>
            <a:r>
              <a:rPr lang="en-US" sz="6400" b="1" dirty="0">
                <a:solidFill>
                  <a:srgbClr val="FFB400"/>
                </a:solidFill>
                <a:latin typeface="Arial Black" pitchFamily="34" charset="0"/>
                <a:ea typeface="Arial Black" pitchFamily="34" charset="-122"/>
                <a:cs typeface="Arial Black" pitchFamily="34" charset="-120"/>
              </a:rPr>
              <a:t>100×</a:t>
            </a:r>
            <a:endParaRPr lang="en-US" sz="6400" dirty="0"/>
          </a:p>
        </p:txBody>
      </p:sp>
      <p:sp>
        <p:nvSpPr>
          <p:cNvPr id="7" name="Text 5"/>
          <p:cNvSpPr/>
          <p:nvPr/>
        </p:nvSpPr>
        <p:spPr>
          <a:xfrm>
            <a:off x="411480" y="2514600"/>
            <a:ext cx="2651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Cost multiplier</a:t>
            </a:r>
            <a:endParaRPr lang="en-US" sz="1600" dirty="0"/>
          </a:p>
        </p:txBody>
      </p:sp>
      <p:sp>
        <p:nvSpPr>
          <p:cNvPr id="8" name="Text 6"/>
          <p:cNvSpPr/>
          <p:nvPr/>
        </p:nvSpPr>
        <p:spPr>
          <a:xfrm>
            <a:off x="594360" y="2926080"/>
            <a:ext cx="2286000" cy="914400"/>
          </a:xfrm>
          <a:prstGeom prst="rect">
            <a:avLst/>
          </a:prstGeom>
          <a:noFill/>
          <a:ln/>
        </p:spPr>
        <p:txBody>
          <a:bodyPr wrap="square" lIns="0" tIns="0" rIns="0" bIns="0" rtlCol="0" anchor="ctr"/>
          <a:lstStyle/>
          <a:p>
            <a:pPr algn="ctr" indent="0" marL="0">
              <a:buNone/>
            </a:pPr>
            <a:r>
              <a:rPr lang="en-US" sz="1200" dirty="0">
                <a:solidFill>
                  <a:srgbClr val="B8B5C0"/>
                </a:solidFill>
                <a:latin typeface="Calibri" pitchFamily="34" charset="0"/>
                <a:ea typeface="Calibri" pitchFamily="34" charset="-122"/>
                <a:cs typeface="Calibri" pitchFamily="34" charset="-120"/>
              </a:rPr>
              <a:t>Fixing a vulnerability in production vs. development (IBM 2024)</a:t>
            </a:r>
            <a:endParaRPr lang="en-US" sz="1200" dirty="0"/>
          </a:p>
        </p:txBody>
      </p:sp>
      <p:sp>
        <p:nvSpPr>
          <p:cNvPr id="9" name="Shape 7"/>
          <p:cNvSpPr/>
          <p:nvPr/>
        </p:nvSpPr>
        <p:spPr>
          <a:xfrm>
            <a:off x="3246120" y="1280160"/>
            <a:ext cx="2651760" cy="2743200"/>
          </a:xfrm>
          <a:prstGeom prst="rect">
            <a:avLst/>
          </a:prstGeom>
          <a:solidFill>
            <a:srgbClr val="241934"/>
          </a:solidFill>
          <a:ln w="12700">
            <a:solidFill>
              <a:srgbClr val="7B42BC"/>
            </a:solidFill>
            <a:prstDash val="solid"/>
          </a:ln>
        </p:spPr>
      </p:sp>
      <p:sp>
        <p:nvSpPr>
          <p:cNvPr id="10" name="Text 8"/>
          <p:cNvSpPr/>
          <p:nvPr/>
        </p:nvSpPr>
        <p:spPr>
          <a:xfrm>
            <a:off x="3246120" y="1417320"/>
            <a:ext cx="2651760" cy="1097280"/>
          </a:xfrm>
          <a:prstGeom prst="rect">
            <a:avLst/>
          </a:prstGeom>
          <a:noFill/>
          <a:ln/>
        </p:spPr>
        <p:txBody>
          <a:bodyPr wrap="square" lIns="0" tIns="0" rIns="0" bIns="0" rtlCol="0" anchor="ctr"/>
          <a:lstStyle/>
          <a:p>
            <a:pPr algn="ctr" indent="0" marL="0">
              <a:buNone/>
            </a:pPr>
            <a:r>
              <a:rPr lang="en-US" sz="6400" b="1" dirty="0">
                <a:solidFill>
                  <a:srgbClr val="FFB400"/>
                </a:solidFill>
                <a:latin typeface="Arial Black" pitchFamily="34" charset="0"/>
                <a:ea typeface="Arial Black" pitchFamily="34" charset="-122"/>
                <a:cs typeface="Arial Black" pitchFamily="34" charset="-120"/>
              </a:rPr>
              <a:t>100M+</a:t>
            </a:r>
            <a:endParaRPr lang="en-US" sz="6400" dirty="0"/>
          </a:p>
        </p:txBody>
      </p:sp>
      <p:sp>
        <p:nvSpPr>
          <p:cNvPr id="11" name="Text 9"/>
          <p:cNvSpPr/>
          <p:nvPr/>
        </p:nvSpPr>
        <p:spPr>
          <a:xfrm>
            <a:off x="3246120" y="2514600"/>
            <a:ext cx="2651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Commits scanned</a:t>
            </a:r>
            <a:endParaRPr lang="en-US" sz="1600" dirty="0"/>
          </a:p>
        </p:txBody>
      </p:sp>
      <p:sp>
        <p:nvSpPr>
          <p:cNvPr id="12" name="Text 10"/>
          <p:cNvSpPr/>
          <p:nvPr/>
        </p:nvSpPr>
        <p:spPr>
          <a:xfrm>
            <a:off x="3429000" y="2926080"/>
            <a:ext cx="2286000" cy="914400"/>
          </a:xfrm>
          <a:prstGeom prst="rect">
            <a:avLst/>
          </a:prstGeom>
          <a:noFill/>
          <a:ln/>
        </p:spPr>
        <p:txBody>
          <a:bodyPr wrap="square" lIns="0" tIns="0" rIns="0" bIns="0" rtlCol="0" anchor="ctr"/>
          <a:lstStyle/>
          <a:p>
            <a:pPr algn="ctr" indent="0" marL="0">
              <a:buNone/>
            </a:pPr>
            <a:r>
              <a:rPr lang="en-US" sz="1200" dirty="0">
                <a:solidFill>
                  <a:srgbClr val="B8B5C0"/>
                </a:solidFill>
                <a:latin typeface="Calibri" pitchFamily="34" charset="0"/>
                <a:ea typeface="Calibri" pitchFamily="34" charset="-122"/>
                <a:cs typeface="Calibri" pitchFamily="34" charset="-120"/>
              </a:rPr>
              <a:t>GitHub finds millions of exposed secrets per year</a:t>
            </a:r>
            <a:endParaRPr lang="en-US" sz="1200" dirty="0"/>
          </a:p>
        </p:txBody>
      </p:sp>
      <p:sp>
        <p:nvSpPr>
          <p:cNvPr id="13" name="Shape 11"/>
          <p:cNvSpPr/>
          <p:nvPr/>
        </p:nvSpPr>
        <p:spPr>
          <a:xfrm>
            <a:off x="6080760" y="1280160"/>
            <a:ext cx="2651760" cy="2743200"/>
          </a:xfrm>
          <a:prstGeom prst="rect">
            <a:avLst/>
          </a:prstGeom>
          <a:solidFill>
            <a:srgbClr val="241934"/>
          </a:solidFill>
          <a:ln w="12700">
            <a:solidFill>
              <a:srgbClr val="7B42BC"/>
            </a:solidFill>
            <a:prstDash val="solid"/>
          </a:ln>
        </p:spPr>
      </p:sp>
      <p:sp>
        <p:nvSpPr>
          <p:cNvPr id="14" name="Text 12"/>
          <p:cNvSpPr/>
          <p:nvPr/>
        </p:nvSpPr>
        <p:spPr>
          <a:xfrm>
            <a:off x="6080760" y="1417320"/>
            <a:ext cx="2651760" cy="1097280"/>
          </a:xfrm>
          <a:prstGeom prst="rect">
            <a:avLst/>
          </a:prstGeom>
          <a:noFill/>
          <a:ln/>
        </p:spPr>
        <p:txBody>
          <a:bodyPr wrap="square" lIns="0" tIns="0" rIns="0" bIns="0" rtlCol="0" anchor="ctr"/>
          <a:lstStyle/>
          <a:p>
            <a:pPr algn="ctr" indent="0" marL="0">
              <a:buNone/>
            </a:pPr>
            <a:r>
              <a:rPr lang="en-US" sz="6400" b="1" dirty="0">
                <a:solidFill>
                  <a:srgbClr val="FFB400"/>
                </a:solidFill>
                <a:latin typeface="Arial Black" pitchFamily="34" charset="0"/>
                <a:ea typeface="Arial Black" pitchFamily="34" charset="-122"/>
                <a:cs typeface="Arial Black" pitchFamily="34" charset="-120"/>
              </a:rPr>
              <a:t>1</a:t>
            </a:r>
            <a:endParaRPr lang="en-US" sz="6400" dirty="0"/>
          </a:p>
        </p:txBody>
      </p:sp>
      <p:sp>
        <p:nvSpPr>
          <p:cNvPr id="15" name="Text 13"/>
          <p:cNvSpPr/>
          <p:nvPr/>
        </p:nvSpPr>
        <p:spPr>
          <a:xfrm>
            <a:off x="6080760" y="2514600"/>
            <a:ext cx="2651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Library, global impact</a:t>
            </a:r>
            <a:endParaRPr lang="en-US" sz="1600" dirty="0"/>
          </a:p>
        </p:txBody>
      </p:sp>
      <p:sp>
        <p:nvSpPr>
          <p:cNvPr id="16" name="Text 14"/>
          <p:cNvSpPr/>
          <p:nvPr/>
        </p:nvSpPr>
        <p:spPr>
          <a:xfrm>
            <a:off x="6263640" y="2926080"/>
            <a:ext cx="2286000" cy="914400"/>
          </a:xfrm>
          <a:prstGeom prst="rect">
            <a:avLst/>
          </a:prstGeom>
          <a:noFill/>
          <a:ln/>
        </p:spPr>
        <p:txBody>
          <a:bodyPr wrap="square" lIns="0" tIns="0" rIns="0" bIns="0" rtlCol="0" anchor="ctr"/>
          <a:lstStyle/>
          <a:p>
            <a:pPr algn="ctr" indent="0" marL="0">
              <a:buNone/>
            </a:pPr>
            <a:r>
              <a:rPr lang="en-US" sz="1200" dirty="0">
                <a:solidFill>
                  <a:srgbClr val="B8B5C0"/>
                </a:solidFill>
                <a:latin typeface="Calibri" pitchFamily="34" charset="0"/>
                <a:ea typeface="Calibri" pitchFamily="34" charset="-122"/>
                <a:cs typeface="Calibri" pitchFamily="34" charset="-120"/>
              </a:rPr>
              <a:t>Log4Shell compromised millions of systems in 2021</a:t>
            </a:r>
            <a:endParaRPr lang="en-US" sz="1200" dirty="0"/>
          </a:p>
        </p:txBody>
      </p:sp>
      <p:sp>
        <p:nvSpPr>
          <p:cNvPr id="17" name="Text 15"/>
          <p:cNvSpPr/>
          <p:nvPr/>
        </p:nvSpPr>
        <p:spPr>
          <a:xfrm>
            <a:off x="457200" y="4343400"/>
            <a:ext cx="8229600" cy="365760"/>
          </a:xfrm>
          <a:prstGeom prst="rect">
            <a:avLst/>
          </a:prstGeom>
          <a:noFill/>
          <a:ln/>
        </p:spPr>
        <p:txBody>
          <a:bodyPr wrap="square" lIns="0" tIns="0" rIns="0" bIns="0" rtlCol="0" anchor="ctr"/>
          <a:lstStyle/>
          <a:p>
            <a:pPr algn="ctr" indent="0" marL="0">
              <a:buNone/>
            </a:pPr>
            <a:r>
              <a:rPr lang="en-US" sz="1800" i="1" dirty="0">
                <a:solidFill>
                  <a:srgbClr val="9B6BD9"/>
                </a:solidFill>
                <a:latin typeface="Calibri" pitchFamily="34" charset="0"/>
                <a:ea typeface="Calibri" pitchFamily="34" charset="-122"/>
                <a:cs typeface="Calibri" pitchFamily="34" charset="-120"/>
              </a:rPr>
              <a:t>Security is bolted on, not built in.</a:t>
            </a:r>
            <a:endParaRPr lang="en-US" sz="1800" dirty="0"/>
          </a:p>
        </p:txBody>
      </p:sp>
      <p:sp>
        <p:nvSpPr>
          <p:cNvPr id="18" name="Text 16"/>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19" name="Text 17"/>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Approach — Shift-Left + Enforce</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457200" y="1234440"/>
            <a:ext cx="4023360" cy="1554480"/>
          </a:xfrm>
          <a:prstGeom prst="rect">
            <a:avLst/>
          </a:prstGeom>
          <a:solidFill>
            <a:srgbClr val="241934"/>
          </a:solidFill>
          <a:ln w="12700">
            <a:solidFill>
              <a:srgbClr val="7B42BC"/>
            </a:solidFill>
            <a:prstDash val="solid"/>
          </a:ln>
        </p:spPr>
      </p:sp>
      <p:sp>
        <p:nvSpPr>
          <p:cNvPr id="6" name="Text 4"/>
          <p:cNvSpPr/>
          <p:nvPr/>
        </p:nvSpPr>
        <p:spPr>
          <a:xfrm>
            <a:off x="640080" y="137160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01</a:t>
            </a:r>
            <a:endParaRPr lang="en-US" sz="2800" dirty="0"/>
          </a:p>
        </p:txBody>
      </p:sp>
      <p:sp>
        <p:nvSpPr>
          <p:cNvPr id="7" name="Text 5"/>
          <p:cNvSpPr/>
          <p:nvPr/>
        </p:nvSpPr>
        <p:spPr>
          <a:xfrm>
            <a:off x="1463040" y="1417320"/>
            <a:ext cx="283464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Every stage scanned</a:t>
            </a:r>
            <a:endParaRPr lang="en-US" sz="1700" dirty="0"/>
          </a:p>
        </p:txBody>
      </p:sp>
      <p:sp>
        <p:nvSpPr>
          <p:cNvPr id="8" name="Text 6"/>
          <p:cNvSpPr/>
          <p:nvPr/>
        </p:nvSpPr>
        <p:spPr>
          <a:xfrm>
            <a:off x="685800" y="2057400"/>
            <a:ext cx="3566160" cy="640080"/>
          </a:xfrm>
          <a:prstGeom prst="rect">
            <a:avLst/>
          </a:prstGeom>
          <a:noFill/>
          <a:ln/>
        </p:spPr>
        <p:txBody>
          <a:bodyPr wrap="square" lIns="0" tIns="0" rIns="0" bIns="0" rtlCol="0" anchor="t"/>
          <a:lstStyle/>
          <a:p>
            <a:pPr indent="0" marL="0">
              <a:buNone/>
            </a:pPr>
            <a:r>
              <a:rPr lang="en-US" sz="1300" dirty="0">
                <a:solidFill>
                  <a:srgbClr val="B8B5C0"/>
                </a:solidFill>
                <a:latin typeface="Calibri" pitchFamily="34" charset="0"/>
                <a:ea typeface="Calibri" pitchFamily="34" charset="-122"/>
                <a:cs typeface="Calibri" pitchFamily="34" charset="-120"/>
              </a:rPr>
              <a:t>Secrets · SAST · SCA · container · DAST</a:t>
            </a:r>
            <a:endParaRPr lang="en-US" sz="1300" dirty="0"/>
          </a:p>
        </p:txBody>
      </p:sp>
      <p:sp>
        <p:nvSpPr>
          <p:cNvPr id="9" name="Shape 7"/>
          <p:cNvSpPr/>
          <p:nvPr/>
        </p:nvSpPr>
        <p:spPr>
          <a:xfrm>
            <a:off x="4663440" y="1234440"/>
            <a:ext cx="4023360" cy="1554480"/>
          </a:xfrm>
          <a:prstGeom prst="rect">
            <a:avLst/>
          </a:prstGeom>
          <a:solidFill>
            <a:srgbClr val="241934"/>
          </a:solidFill>
          <a:ln w="12700">
            <a:solidFill>
              <a:srgbClr val="7B42BC"/>
            </a:solidFill>
            <a:prstDash val="solid"/>
          </a:ln>
        </p:spPr>
      </p:sp>
      <p:sp>
        <p:nvSpPr>
          <p:cNvPr id="10" name="Text 8"/>
          <p:cNvSpPr/>
          <p:nvPr/>
        </p:nvSpPr>
        <p:spPr>
          <a:xfrm>
            <a:off x="4846320" y="137160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02</a:t>
            </a:r>
            <a:endParaRPr lang="en-US" sz="2800" dirty="0"/>
          </a:p>
        </p:txBody>
      </p:sp>
      <p:sp>
        <p:nvSpPr>
          <p:cNvPr id="11" name="Text 9"/>
          <p:cNvSpPr/>
          <p:nvPr/>
        </p:nvSpPr>
        <p:spPr>
          <a:xfrm>
            <a:off x="5669280" y="1417320"/>
            <a:ext cx="283464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Every artifact verifiable</a:t>
            </a:r>
            <a:endParaRPr lang="en-US" sz="1700" dirty="0"/>
          </a:p>
        </p:txBody>
      </p:sp>
      <p:sp>
        <p:nvSpPr>
          <p:cNvPr id="12" name="Text 10"/>
          <p:cNvSpPr/>
          <p:nvPr/>
        </p:nvSpPr>
        <p:spPr>
          <a:xfrm>
            <a:off x="4892040" y="2057400"/>
            <a:ext cx="3566160" cy="640080"/>
          </a:xfrm>
          <a:prstGeom prst="rect">
            <a:avLst/>
          </a:prstGeom>
          <a:noFill/>
          <a:ln/>
        </p:spPr>
        <p:txBody>
          <a:bodyPr wrap="square" lIns="0" tIns="0" rIns="0" bIns="0" rtlCol="0" anchor="t"/>
          <a:lstStyle/>
          <a:p>
            <a:pPr indent="0" marL="0">
              <a:buNone/>
            </a:pPr>
            <a:r>
              <a:rPr lang="en-US" sz="1300" dirty="0">
                <a:solidFill>
                  <a:srgbClr val="B8B5C0"/>
                </a:solidFill>
                <a:latin typeface="Calibri" pitchFamily="34" charset="0"/>
                <a:ea typeface="Calibri" pitchFamily="34" charset="-122"/>
                <a:cs typeface="Calibri" pitchFamily="34" charset="-120"/>
              </a:rPr>
              <a:t>SBOM (SPDX) + cryptographic signature</a:t>
            </a:r>
            <a:endParaRPr lang="en-US" sz="1300" dirty="0"/>
          </a:p>
        </p:txBody>
      </p:sp>
      <p:sp>
        <p:nvSpPr>
          <p:cNvPr id="13" name="Shape 11"/>
          <p:cNvSpPr/>
          <p:nvPr/>
        </p:nvSpPr>
        <p:spPr>
          <a:xfrm>
            <a:off x="457200" y="2971800"/>
            <a:ext cx="4023360" cy="1554480"/>
          </a:xfrm>
          <a:prstGeom prst="rect">
            <a:avLst/>
          </a:prstGeom>
          <a:solidFill>
            <a:srgbClr val="241934"/>
          </a:solidFill>
          <a:ln w="12700">
            <a:solidFill>
              <a:srgbClr val="7B42BC"/>
            </a:solidFill>
            <a:prstDash val="solid"/>
          </a:ln>
        </p:spPr>
      </p:sp>
      <p:sp>
        <p:nvSpPr>
          <p:cNvPr id="14" name="Text 12"/>
          <p:cNvSpPr/>
          <p:nvPr/>
        </p:nvSpPr>
        <p:spPr>
          <a:xfrm>
            <a:off x="640080" y="310896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03</a:t>
            </a:r>
            <a:endParaRPr lang="en-US" sz="2800" dirty="0"/>
          </a:p>
        </p:txBody>
      </p:sp>
      <p:sp>
        <p:nvSpPr>
          <p:cNvPr id="15" name="Text 13"/>
          <p:cNvSpPr/>
          <p:nvPr/>
        </p:nvSpPr>
        <p:spPr>
          <a:xfrm>
            <a:off x="1463040" y="3154680"/>
            <a:ext cx="283464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Every gate blocks</a:t>
            </a:r>
            <a:endParaRPr lang="en-US" sz="1700" dirty="0"/>
          </a:p>
        </p:txBody>
      </p:sp>
      <p:sp>
        <p:nvSpPr>
          <p:cNvPr id="16" name="Text 14"/>
          <p:cNvSpPr/>
          <p:nvPr/>
        </p:nvSpPr>
        <p:spPr>
          <a:xfrm>
            <a:off x="685800" y="3794760"/>
            <a:ext cx="3566160" cy="640080"/>
          </a:xfrm>
          <a:prstGeom prst="rect">
            <a:avLst/>
          </a:prstGeom>
          <a:noFill/>
          <a:ln/>
        </p:spPr>
        <p:txBody>
          <a:bodyPr wrap="square" lIns="0" tIns="0" rIns="0" bIns="0" rtlCol="0" anchor="t"/>
          <a:lstStyle/>
          <a:p>
            <a:pPr indent="0" marL="0">
              <a:buNone/>
            </a:pPr>
            <a:r>
              <a:rPr lang="en-US" sz="1300" dirty="0">
                <a:solidFill>
                  <a:srgbClr val="B8B5C0"/>
                </a:solidFill>
                <a:latin typeface="Calibri" pitchFamily="34" charset="0"/>
                <a:ea typeface="Calibri" pitchFamily="34" charset="-122"/>
                <a:cs typeface="Calibri" pitchFamily="34" charset="-120"/>
              </a:rPr>
              <a:t>No override path for insecure code</a:t>
            </a:r>
            <a:endParaRPr lang="en-US" sz="1300" dirty="0"/>
          </a:p>
        </p:txBody>
      </p:sp>
      <p:sp>
        <p:nvSpPr>
          <p:cNvPr id="17" name="Shape 15"/>
          <p:cNvSpPr/>
          <p:nvPr/>
        </p:nvSpPr>
        <p:spPr>
          <a:xfrm>
            <a:off x="4663440" y="2971800"/>
            <a:ext cx="4023360" cy="1554480"/>
          </a:xfrm>
          <a:prstGeom prst="rect">
            <a:avLst/>
          </a:prstGeom>
          <a:solidFill>
            <a:srgbClr val="241934"/>
          </a:solidFill>
          <a:ln w="12700">
            <a:solidFill>
              <a:srgbClr val="7B42BC"/>
            </a:solidFill>
            <a:prstDash val="solid"/>
          </a:ln>
        </p:spPr>
      </p:sp>
      <p:sp>
        <p:nvSpPr>
          <p:cNvPr id="18" name="Text 16"/>
          <p:cNvSpPr/>
          <p:nvPr/>
        </p:nvSpPr>
        <p:spPr>
          <a:xfrm>
            <a:off x="4846320" y="310896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04</a:t>
            </a:r>
            <a:endParaRPr lang="en-US" sz="2800" dirty="0"/>
          </a:p>
        </p:txBody>
      </p:sp>
      <p:sp>
        <p:nvSpPr>
          <p:cNvPr id="19" name="Text 17"/>
          <p:cNvSpPr/>
          <p:nvPr/>
        </p:nvSpPr>
        <p:spPr>
          <a:xfrm>
            <a:off x="5669280" y="3154680"/>
            <a:ext cx="283464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Every claim auditable</a:t>
            </a:r>
            <a:endParaRPr lang="en-US" sz="1700" dirty="0"/>
          </a:p>
        </p:txBody>
      </p:sp>
      <p:sp>
        <p:nvSpPr>
          <p:cNvPr id="20" name="Text 18"/>
          <p:cNvSpPr/>
          <p:nvPr/>
        </p:nvSpPr>
        <p:spPr>
          <a:xfrm>
            <a:off x="4892040" y="3794760"/>
            <a:ext cx="3566160" cy="640080"/>
          </a:xfrm>
          <a:prstGeom prst="rect">
            <a:avLst/>
          </a:prstGeom>
          <a:noFill/>
          <a:ln/>
        </p:spPr>
        <p:txBody>
          <a:bodyPr wrap="square" lIns="0" tIns="0" rIns="0" bIns="0" rtlCol="0" anchor="t"/>
          <a:lstStyle/>
          <a:p>
            <a:pPr indent="0" marL="0">
              <a:buNone/>
            </a:pPr>
            <a:r>
              <a:rPr lang="en-US" sz="1300" dirty="0">
                <a:solidFill>
                  <a:srgbClr val="B8B5C0"/>
                </a:solidFill>
                <a:latin typeface="Calibri" pitchFamily="34" charset="0"/>
                <a:ea typeface="Calibri" pitchFamily="34" charset="-122"/>
                <a:cs typeface="Calibri" pitchFamily="34" charset="-120"/>
              </a:rPr>
              <a:t>Reports · attestations · transparency log</a:t>
            </a:r>
            <a:endParaRPr lang="en-US" sz="1300" dirty="0"/>
          </a:p>
        </p:txBody>
      </p:sp>
      <p:sp>
        <p:nvSpPr>
          <p:cNvPr id="21" name="Text 19"/>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22" name="Text 20"/>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Architecture</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pic>
        <p:nvPicPr>
          <p:cNvPr id="5" name="Image 0" descr="D:\AegisFlow\docs\diagrams\06-deployment-diagram.png">    </p:cNvPr>
          <p:cNvPicPr>
            <a:picLocks noChangeAspect="1"/>
          </p:cNvPicPr>
          <p:nvPr/>
        </p:nvPicPr>
        <p:blipFill>
          <a:blip r:embed="rId1"/>
          <a:stretch>
            <a:fillRect/>
          </a:stretch>
        </p:blipFill>
        <p:spPr>
          <a:xfrm>
            <a:off x="2757900" y="1097280"/>
            <a:ext cx="3628200" cy="3291840"/>
          </a:xfrm>
          <a:prstGeom prst="rect">
            <a:avLst/>
          </a:prstGeom>
        </p:spPr>
      </p:pic>
      <p:sp>
        <p:nvSpPr>
          <p:cNvPr id="6" name="Text 3"/>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200" i="1" dirty="0">
                <a:solidFill>
                  <a:srgbClr val="B8B5C0"/>
                </a:solidFill>
                <a:latin typeface="Calibri" pitchFamily="34" charset="0"/>
                <a:ea typeface="Calibri" pitchFamily="34" charset="-122"/>
                <a:cs typeface="Calibri" pitchFamily="34" charset="-120"/>
              </a:rPr>
              <a:t>Local Docker Compose staging — fully reproducible on a laptop. Images come from GHCR signed by Sigstore Fulcio.</a:t>
            </a:r>
            <a:endParaRPr lang="en-US" sz="1200" dirty="0"/>
          </a:p>
        </p:txBody>
      </p:sp>
      <p:sp>
        <p:nvSpPr>
          <p:cNvPr id="7" name="Text 4"/>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8" name="Text 5"/>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Application — SecureTrack</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Text 3"/>
          <p:cNvSpPr/>
          <p:nvPr/>
        </p:nvSpPr>
        <p:spPr>
          <a:xfrm>
            <a:off x="457200" y="1234440"/>
            <a:ext cx="4754880" cy="45720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Incident-reporting platform — the target of the security pipeline.</a:t>
            </a:r>
            <a:endParaRPr lang="en-US" sz="1500" dirty="0"/>
          </a:p>
        </p:txBody>
      </p:sp>
      <p:sp>
        <p:nvSpPr>
          <p:cNvPr id="6" name="Text 4"/>
          <p:cNvSpPr/>
          <p:nvPr/>
        </p:nvSpPr>
        <p:spPr>
          <a:xfrm>
            <a:off x="457200" y="1828800"/>
            <a:ext cx="4754880" cy="2011680"/>
          </a:xfrm>
          <a:prstGeom prst="rect">
            <a:avLst/>
          </a:prstGeom>
          <a:noFill/>
          <a:ln/>
        </p:spPr>
        <p:txBody>
          <a:bodyPr wrap="square" lIns="0" tIns="0" rIns="0" bIns="0" rtlCol="0" anchor="ctr"/>
          <a:lstStyle/>
          <a:p>
            <a:pPr indent="0" marL="0">
              <a:spcAft>
                <a:spcPts val="600"/>
              </a:spcAft>
              <a:buNone/>
            </a:pPr>
            <a:r>
              <a:rPr lang="en-US" sz="1400" b="1" dirty="0">
                <a:solidFill>
                  <a:srgbClr val="FFB400"/>
                </a:solidFill>
                <a:latin typeface="Calibri" pitchFamily="34" charset="0"/>
                <a:ea typeface="Calibri" pitchFamily="34" charset="-122"/>
                <a:cs typeface="Calibri" pitchFamily="34" charset="-120"/>
              </a:rPr>
              <a:t>Backend </a:t>
            </a:r>
            <a:pPr indent="0" marL="0">
              <a:spcAft>
                <a:spcPts val="600"/>
              </a:spcAft>
              <a:buNone/>
            </a:pPr>
            <a:r>
              <a:rPr lang="en-US" sz="1400" dirty="0">
                <a:solidFill>
                  <a:srgbClr val="F5F5F7"/>
                </a:solidFill>
                <a:latin typeface="Calibri" pitchFamily="34" charset="0"/>
                <a:ea typeface="Calibri" pitchFamily="34" charset="-122"/>
                <a:cs typeface="Calibri" pitchFamily="34" charset="-120"/>
              </a:rPr>
              <a:t>Node 20 · Express · Prisma · PostgreSQL 16</a:t>
            </a:r>
            <a:endParaRPr lang="en-US" sz="1400" dirty="0"/>
          </a:p>
          <a:p>
            <a:pPr indent="0" marL="0">
              <a:spcAft>
                <a:spcPts val="600"/>
              </a:spcAft>
              <a:buNone/>
            </a:pPr>
            <a:r>
              <a:rPr lang="en-US" sz="1400" b="1" dirty="0">
                <a:solidFill>
                  <a:srgbClr val="FFB400"/>
                </a:solidFill>
                <a:latin typeface="Calibri" pitchFamily="34" charset="0"/>
                <a:ea typeface="Calibri" pitchFamily="34" charset="-122"/>
                <a:cs typeface="Calibri" pitchFamily="34" charset="-120"/>
              </a:rPr>
              <a:t>Frontend </a:t>
            </a:r>
            <a:pPr indent="0" marL="0">
              <a:spcAft>
                <a:spcPts val="600"/>
              </a:spcAft>
              <a:buNone/>
            </a:pPr>
            <a:r>
              <a:rPr lang="en-US" sz="1400" dirty="0">
                <a:solidFill>
                  <a:srgbClr val="F5F5F7"/>
                </a:solidFill>
                <a:latin typeface="Calibri" pitchFamily="34" charset="0"/>
                <a:ea typeface="Calibri" pitchFamily="34" charset="-122"/>
                <a:cs typeface="Calibri" pitchFamily="34" charset="-120"/>
              </a:rPr>
              <a:t>React 18 · Vite · React Router</a:t>
            </a:r>
            <a:endParaRPr lang="en-US" sz="1400" dirty="0"/>
          </a:p>
          <a:p>
            <a:pPr indent="0" marL="0">
              <a:spcAft>
                <a:spcPts val="600"/>
              </a:spcAft>
              <a:buNone/>
            </a:pPr>
            <a:r>
              <a:rPr lang="en-US" sz="1400" b="1" dirty="0">
                <a:solidFill>
                  <a:srgbClr val="FFB400"/>
                </a:solidFill>
                <a:latin typeface="Calibri" pitchFamily="34" charset="0"/>
                <a:ea typeface="Calibri" pitchFamily="34" charset="-122"/>
                <a:cs typeface="Calibri" pitchFamily="34" charset="-120"/>
              </a:rPr>
              <a:t>Identity </a:t>
            </a:r>
            <a:pPr indent="0" marL="0">
              <a:spcAft>
                <a:spcPts val="600"/>
              </a:spcAft>
              <a:buNone/>
            </a:pPr>
            <a:r>
              <a:rPr lang="en-US" sz="1400" dirty="0">
                <a:solidFill>
                  <a:srgbClr val="F5F5F7"/>
                </a:solidFill>
                <a:latin typeface="Calibri" pitchFamily="34" charset="0"/>
                <a:ea typeface="Calibri" pitchFamily="34" charset="-122"/>
                <a:cs typeface="Calibri" pitchFamily="34" charset="-120"/>
              </a:rPr>
              <a:t>JWT auth · 3 roles (REPORTER · ADMIN · AUDITOR)</a:t>
            </a:r>
            <a:endParaRPr lang="en-US" sz="1400" dirty="0"/>
          </a:p>
          <a:p>
            <a:pPr indent="0" marL="0">
              <a:spcAft>
                <a:spcPts val="600"/>
              </a:spcAft>
              <a:buNone/>
            </a:pPr>
            <a:r>
              <a:rPr lang="en-US" sz="1400" b="1" dirty="0">
                <a:solidFill>
                  <a:srgbClr val="FFB400"/>
                </a:solidFill>
                <a:latin typeface="Calibri" pitchFamily="34" charset="0"/>
                <a:ea typeface="Calibri" pitchFamily="34" charset="-122"/>
                <a:cs typeface="Calibri" pitchFamily="34" charset="-120"/>
              </a:rPr>
              <a:t>Audit </a:t>
            </a:r>
            <a:pPr indent="0" marL="0">
              <a:spcAft>
                <a:spcPts val="600"/>
              </a:spcAft>
              <a:buNone/>
            </a:pPr>
            <a:r>
              <a:rPr lang="en-US" sz="1400" dirty="0">
                <a:solidFill>
                  <a:srgbClr val="F5F5F7"/>
                </a:solidFill>
                <a:latin typeface="Calibri" pitchFamily="34" charset="0"/>
                <a:ea typeface="Calibri" pitchFamily="34" charset="-122"/>
                <a:cs typeface="Calibri" pitchFamily="34" charset="-120"/>
              </a:rPr>
              <a:t>Append-only AUDIT_LOG on every mutation</a:t>
            </a:r>
            <a:endParaRPr lang="en-US" sz="1400" dirty="0"/>
          </a:p>
        </p:txBody>
      </p:sp>
      <p:sp>
        <p:nvSpPr>
          <p:cNvPr id="7" name="Shape 5"/>
          <p:cNvSpPr/>
          <p:nvPr/>
        </p:nvSpPr>
        <p:spPr>
          <a:xfrm>
            <a:off x="457200" y="3931920"/>
            <a:ext cx="4754880" cy="685800"/>
          </a:xfrm>
          <a:prstGeom prst="rect">
            <a:avLst/>
          </a:prstGeom>
          <a:solidFill>
            <a:srgbClr val="241934"/>
          </a:solidFill>
          <a:ln w="25400">
            <a:solidFill>
              <a:srgbClr val="FFB400"/>
            </a:solidFill>
            <a:prstDash val="solid"/>
          </a:ln>
        </p:spPr>
      </p:sp>
      <p:sp>
        <p:nvSpPr>
          <p:cNvPr id="8" name="Text 6"/>
          <p:cNvSpPr/>
          <p:nvPr/>
        </p:nvSpPr>
        <p:spPr>
          <a:xfrm>
            <a:off x="640080" y="3950208"/>
            <a:ext cx="4389120" cy="640080"/>
          </a:xfrm>
          <a:prstGeom prst="rect">
            <a:avLst/>
          </a:prstGeom>
          <a:noFill/>
          <a:ln/>
        </p:spPr>
        <p:txBody>
          <a:bodyPr wrap="square" lIns="0" tIns="0" rIns="0" bIns="0" rtlCol="0" anchor="ctr"/>
          <a:lstStyle/>
          <a:p>
            <a:pPr indent="0" marL="0">
              <a:buNone/>
            </a:pPr>
            <a:r>
              <a:rPr lang="en-US" sz="2800" b="1" dirty="0">
                <a:solidFill>
                  <a:srgbClr val="FFB400"/>
                </a:solidFill>
                <a:latin typeface="Calibri" pitchFamily="34" charset="0"/>
                <a:ea typeface="Calibri" pitchFamily="34" charset="-122"/>
                <a:cs typeface="Calibri" pitchFamily="34" charset="-120"/>
              </a:rPr>
              <a:t>15</a:t>
            </a:r>
            <a:pPr indent="0" marL="0">
              <a:buNone/>
            </a:pPr>
            <a:r>
              <a:rPr lang="en-US" sz="1400" dirty="0">
                <a:solidFill>
                  <a:srgbClr val="FFFFFF"/>
                </a:solidFill>
                <a:latin typeface="Calibri" pitchFamily="34" charset="0"/>
                <a:ea typeface="Calibri" pitchFamily="34" charset="-122"/>
                <a:cs typeface="Calibri" pitchFamily="34" charset="-120"/>
              </a:rPr>
              <a:t>  intentional vulnerabilities (V1–V15) baked in</a:t>
            </a:r>
            <a:endParaRPr lang="en-US" sz="2800" dirty="0"/>
          </a:p>
        </p:txBody>
      </p:sp>
      <p:sp>
        <p:nvSpPr>
          <p:cNvPr id="9" name="Shape 7"/>
          <p:cNvSpPr/>
          <p:nvPr/>
        </p:nvSpPr>
        <p:spPr>
          <a:xfrm>
            <a:off x="5486400" y="1234440"/>
            <a:ext cx="3291840" cy="3383280"/>
          </a:xfrm>
          <a:prstGeom prst="rect">
            <a:avLst/>
          </a:prstGeom>
          <a:solidFill>
            <a:srgbClr val="241934"/>
          </a:solidFill>
          <a:ln w="12700">
            <a:solidFill>
              <a:srgbClr val="7B42BC"/>
            </a:solidFill>
            <a:prstDash val="solid"/>
          </a:ln>
        </p:spPr>
      </p:sp>
      <p:sp>
        <p:nvSpPr>
          <p:cNvPr id="10" name="Text 8"/>
          <p:cNvSpPr/>
          <p:nvPr/>
        </p:nvSpPr>
        <p:spPr>
          <a:xfrm>
            <a:off x="5486400" y="1280160"/>
            <a:ext cx="3291840" cy="365760"/>
          </a:xfrm>
          <a:prstGeom prst="rect">
            <a:avLst/>
          </a:prstGeom>
          <a:noFill/>
          <a:ln/>
        </p:spPr>
        <p:txBody>
          <a:bodyPr wrap="square" lIns="0" tIns="0" rIns="0" bIns="0" rtlCol="0" anchor="ctr"/>
          <a:lstStyle/>
          <a:p>
            <a:pPr algn="ctr" indent="0" marL="0">
              <a:buNone/>
            </a:pPr>
            <a:r>
              <a:rPr lang="en-US" sz="1300" b="1" dirty="0">
                <a:solidFill>
                  <a:srgbClr val="FFB400"/>
                </a:solidFill>
                <a:latin typeface="Calibri" pitchFamily="34" charset="0"/>
                <a:ea typeface="Calibri" pitchFamily="34" charset="-122"/>
                <a:cs typeface="Calibri" pitchFamily="34" charset="-120"/>
              </a:rPr>
              <a:t>OWASP Top 10 coverage</a:t>
            </a:r>
            <a:endParaRPr lang="en-US" sz="1300" dirty="0"/>
          </a:p>
        </p:txBody>
      </p:sp>
      <p:sp>
        <p:nvSpPr>
          <p:cNvPr id="11" name="Text 9"/>
          <p:cNvSpPr/>
          <p:nvPr/>
        </p:nvSpPr>
        <p:spPr>
          <a:xfrm>
            <a:off x="5669280" y="1691640"/>
            <a:ext cx="2926080" cy="2834640"/>
          </a:xfrm>
          <a:prstGeom prst="rect">
            <a:avLst/>
          </a:prstGeom>
          <a:noFill/>
          <a:ln/>
        </p:spPr>
        <p:txBody>
          <a:bodyPr wrap="square" lIns="0" tIns="0" rIns="0" bIns="0" rtlCol="0" anchor="ctr"/>
          <a:lstStyle/>
          <a:p>
            <a:pPr indent="0" marL="0">
              <a:spcAft>
                <a:spcPts val="400"/>
              </a:spcAft>
              <a:buNone/>
            </a:pPr>
            <a:r>
              <a:rPr lang="en-US" sz="1200" dirty="0">
                <a:solidFill>
                  <a:srgbClr val="F5F5F7"/>
                </a:solidFill>
                <a:latin typeface="Consolas" pitchFamily="34" charset="0"/>
                <a:ea typeface="Consolas" pitchFamily="34" charset="-122"/>
                <a:cs typeface="Consolas" pitchFamily="34" charset="-120"/>
              </a:rPr>
              <a:t>A01  Broken access — RBAC tested</a:t>
            </a:r>
            <a:endParaRPr lang="en-US" sz="1200" dirty="0"/>
          </a:p>
          <a:p>
            <a:pPr indent="0" marL="0">
              <a:spcAft>
                <a:spcPts val="400"/>
              </a:spcAft>
              <a:buNone/>
            </a:pPr>
            <a:r>
              <a:rPr lang="en-US" sz="1200" dirty="0">
                <a:solidFill>
                  <a:srgbClr val="F5F5F7"/>
                </a:solidFill>
                <a:latin typeface="Consolas" pitchFamily="34" charset="0"/>
                <a:ea typeface="Consolas" pitchFamily="34" charset="-122"/>
                <a:cs typeface="Consolas" pitchFamily="34" charset="-120"/>
              </a:rPr>
              <a:t>A02  Crypto — V2 JWT secret</a:t>
            </a:r>
            <a:endParaRPr lang="en-US" sz="1200" dirty="0"/>
          </a:p>
          <a:p>
            <a:pPr indent="0" marL="0">
              <a:spcAft>
                <a:spcPts val="400"/>
              </a:spcAft>
              <a:buNone/>
            </a:pPr>
            <a:r>
              <a:rPr lang="en-US" sz="1200" dirty="0">
                <a:solidFill>
                  <a:srgbClr val="F5F5F7"/>
                </a:solidFill>
                <a:latin typeface="Consolas" pitchFamily="34" charset="0"/>
                <a:ea typeface="Consolas" pitchFamily="34" charset="-122"/>
                <a:cs typeface="Consolas" pitchFamily="34" charset="-120"/>
              </a:rPr>
              <a:t>A03  Injection — V3 SQLi · V4 XSS</a:t>
            </a:r>
            <a:endParaRPr lang="en-US" sz="1200" dirty="0"/>
          </a:p>
          <a:p>
            <a:pPr indent="0" marL="0">
              <a:spcAft>
                <a:spcPts val="400"/>
              </a:spcAft>
              <a:buNone/>
            </a:pPr>
            <a:r>
              <a:rPr lang="en-US" sz="1200" dirty="0">
                <a:solidFill>
                  <a:srgbClr val="F5F5F7"/>
                </a:solidFill>
                <a:latin typeface="Consolas" pitchFamily="34" charset="0"/>
                <a:ea typeface="Consolas" pitchFamily="34" charset="-122"/>
                <a:cs typeface="Consolas" pitchFamily="34" charset="-120"/>
              </a:rPr>
              <a:t>A05  Misconfig — V7 V8 V9 V10 V14</a:t>
            </a:r>
            <a:endParaRPr lang="en-US" sz="1200" dirty="0"/>
          </a:p>
          <a:p>
            <a:pPr indent="0" marL="0">
              <a:spcAft>
                <a:spcPts val="400"/>
              </a:spcAft>
              <a:buNone/>
            </a:pPr>
            <a:r>
              <a:rPr lang="en-US" sz="1200" dirty="0">
                <a:solidFill>
                  <a:srgbClr val="F5F5F7"/>
                </a:solidFill>
                <a:latin typeface="Consolas" pitchFamily="34" charset="0"/>
                <a:ea typeface="Consolas" pitchFamily="34" charset="-122"/>
                <a:cs typeface="Consolas" pitchFamily="34" charset="-120"/>
              </a:rPr>
              <a:t>A06  Vuln deps — V5 V6 V15</a:t>
            </a:r>
            <a:endParaRPr lang="en-US" sz="1200" dirty="0"/>
          </a:p>
          <a:p>
            <a:pPr indent="0" marL="0">
              <a:spcAft>
                <a:spcPts val="400"/>
              </a:spcAft>
              <a:buNone/>
            </a:pPr>
            <a:r>
              <a:rPr lang="en-US" sz="1200" dirty="0">
                <a:solidFill>
                  <a:srgbClr val="F5F5F7"/>
                </a:solidFill>
                <a:latin typeface="Consolas" pitchFamily="34" charset="0"/>
                <a:ea typeface="Consolas" pitchFamily="34" charset="-122"/>
                <a:cs typeface="Consolas" pitchFamily="34" charset="-120"/>
              </a:rPr>
              <a:t>A07  Auth failures — V1 V2 V11 V12</a:t>
            </a:r>
            <a:endParaRPr lang="en-US" sz="1200" dirty="0"/>
          </a:p>
          <a:p>
            <a:pPr indent="0" marL="0">
              <a:spcAft>
                <a:spcPts val="400"/>
              </a:spcAft>
              <a:buNone/>
            </a:pPr>
            <a:r>
              <a:rPr lang="en-US" sz="1200" dirty="0">
                <a:solidFill>
                  <a:srgbClr val="F5F5F7"/>
                </a:solidFill>
                <a:latin typeface="Consolas" pitchFamily="34" charset="0"/>
                <a:ea typeface="Consolas" pitchFamily="34" charset="-122"/>
                <a:cs typeface="Consolas" pitchFamily="34" charset="-120"/>
              </a:rPr>
              <a:t>A09  Logging — V13 password leak</a:t>
            </a:r>
            <a:endParaRPr lang="en-US" sz="1200" dirty="0"/>
          </a:p>
        </p:txBody>
      </p:sp>
      <p:sp>
        <p:nvSpPr>
          <p:cNvPr id="12" name="Text 10"/>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13" name="Text 11"/>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Pipeline</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pic>
        <p:nvPicPr>
          <p:cNvPr id="5" name="Image 0" descr="D:\AegisFlow\docs\diagrams\07-activity-pipeline.png">    </p:cNvPr>
          <p:cNvPicPr>
            <a:picLocks noChangeAspect="1"/>
          </p:cNvPicPr>
          <p:nvPr/>
        </p:nvPicPr>
        <p:blipFill>
          <a:blip r:embed="rId1"/>
          <a:stretch>
            <a:fillRect/>
          </a:stretch>
        </p:blipFill>
        <p:spPr>
          <a:xfrm>
            <a:off x="548640" y="1051560"/>
            <a:ext cx="847165" cy="3657600"/>
          </a:xfrm>
          <a:prstGeom prst="rect">
            <a:avLst/>
          </a:prstGeom>
        </p:spPr>
      </p:pic>
      <p:sp>
        <p:nvSpPr>
          <p:cNvPr id="6" name="Text 3"/>
          <p:cNvSpPr/>
          <p:nvPr/>
        </p:nvSpPr>
        <p:spPr>
          <a:xfrm>
            <a:off x="365760" y="4736592"/>
            <a:ext cx="1212925" cy="274320"/>
          </a:xfrm>
          <a:prstGeom prst="rect">
            <a:avLst/>
          </a:prstGeom>
          <a:noFill/>
          <a:ln/>
        </p:spPr>
        <p:txBody>
          <a:bodyPr wrap="square" lIns="0" tIns="0" rIns="0" bIns="0" rtlCol="0" anchor="ctr"/>
          <a:lstStyle/>
          <a:p>
            <a:pPr algn="ctr" indent="0" marL="0">
              <a:buNone/>
            </a:pPr>
            <a:r>
              <a:rPr lang="en-US" sz="1000" i="1" dirty="0">
                <a:solidFill>
                  <a:srgbClr val="B8B5C0"/>
                </a:solidFill>
                <a:latin typeface="Calibri" pitchFamily="34" charset="0"/>
                <a:ea typeface="Calibri" pitchFamily="34" charset="-122"/>
                <a:cs typeface="Calibri" pitchFamily="34" charset="-120"/>
              </a:rPr>
              <a:t>22-stage activity flow</a:t>
            </a:r>
            <a:endParaRPr lang="en-US" sz="1000" dirty="0"/>
          </a:p>
        </p:txBody>
      </p:sp>
      <p:sp>
        <p:nvSpPr>
          <p:cNvPr id="7" name="Shape 4"/>
          <p:cNvSpPr/>
          <p:nvPr/>
        </p:nvSpPr>
        <p:spPr>
          <a:xfrm>
            <a:off x="2194560" y="1097280"/>
            <a:ext cx="6492240" cy="777240"/>
          </a:xfrm>
          <a:prstGeom prst="rect">
            <a:avLst/>
          </a:prstGeom>
          <a:solidFill>
            <a:srgbClr val="241934"/>
          </a:solidFill>
          <a:ln w="12700">
            <a:solidFill>
              <a:srgbClr val="7B42BC"/>
            </a:solidFill>
            <a:prstDash val="solid"/>
          </a:ln>
        </p:spPr>
      </p:sp>
      <p:sp>
        <p:nvSpPr>
          <p:cNvPr id="8" name="Text 5"/>
          <p:cNvSpPr/>
          <p:nvPr/>
        </p:nvSpPr>
        <p:spPr>
          <a:xfrm>
            <a:off x="2286000" y="1143000"/>
            <a:ext cx="1097280" cy="685800"/>
          </a:xfrm>
          <a:prstGeom prst="rect">
            <a:avLst/>
          </a:prstGeom>
          <a:noFill/>
          <a:ln/>
        </p:spPr>
        <p:txBody>
          <a:bodyPr wrap="square" lIns="0" tIns="0" rIns="0" bIns="0" rtlCol="0" anchor="ctr"/>
          <a:lstStyle/>
          <a:p>
            <a:pPr algn="ctr" indent="0" marL="0">
              <a:buNone/>
            </a:pPr>
            <a:r>
              <a:rPr lang="en-US" sz="3600" b="1" dirty="0">
                <a:solidFill>
                  <a:srgbClr val="FFB400"/>
                </a:solidFill>
                <a:latin typeface="Arial Black" pitchFamily="34" charset="0"/>
                <a:ea typeface="Arial Black" pitchFamily="34" charset="-122"/>
                <a:cs typeface="Arial Black" pitchFamily="34" charset="-120"/>
              </a:rPr>
              <a:t>22</a:t>
            </a:r>
            <a:endParaRPr lang="en-US" sz="3600" dirty="0"/>
          </a:p>
        </p:txBody>
      </p:sp>
      <p:sp>
        <p:nvSpPr>
          <p:cNvPr id="9" name="Text 6"/>
          <p:cNvSpPr/>
          <p:nvPr/>
        </p:nvSpPr>
        <p:spPr>
          <a:xfrm>
            <a:off x="3520440" y="1170432"/>
            <a:ext cx="50292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stages</a:t>
            </a:r>
            <a:endParaRPr lang="en-US" sz="1600" dirty="0"/>
          </a:p>
        </p:txBody>
      </p:sp>
      <p:sp>
        <p:nvSpPr>
          <p:cNvPr id="10" name="Text 7"/>
          <p:cNvSpPr/>
          <p:nvPr/>
        </p:nvSpPr>
        <p:spPr>
          <a:xfrm>
            <a:off x="3520440" y="1508760"/>
            <a:ext cx="5029200" cy="32004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checkout → ship → DAST</a:t>
            </a:r>
            <a:endParaRPr lang="en-US" sz="1200" dirty="0"/>
          </a:p>
        </p:txBody>
      </p:sp>
      <p:sp>
        <p:nvSpPr>
          <p:cNvPr id="11" name="Shape 8"/>
          <p:cNvSpPr/>
          <p:nvPr/>
        </p:nvSpPr>
        <p:spPr>
          <a:xfrm>
            <a:off x="2194560" y="1993392"/>
            <a:ext cx="6492240" cy="777240"/>
          </a:xfrm>
          <a:prstGeom prst="rect">
            <a:avLst/>
          </a:prstGeom>
          <a:solidFill>
            <a:srgbClr val="241934"/>
          </a:solidFill>
          <a:ln w="12700">
            <a:solidFill>
              <a:srgbClr val="7B42BC"/>
            </a:solidFill>
            <a:prstDash val="solid"/>
          </a:ln>
        </p:spPr>
      </p:sp>
      <p:sp>
        <p:nvSpPr>
          <p:cNvPr id="12" name="Text 9"/>
          <p:cNvSpPr/>
          <p:nvPr/>
        </p:nvSpPr>
        <p:spPr>
          <a:xfrm>
            <a:off x="2286000" y="2039112"/>
            <a:ext cx="1097280" cy="685800"/>
          </a:xfrm>
          <a:prstGeom prst="rect">
            <a:avLst/>
          </a:prstGeom>
          <a:noFill/>
          <a:ln/>
        </p:spPr>
        <p:txBody>
          <a:bodyPr wrap="square" lIns="0" tIns="0" rIns="0" bIns="0" rtlCol="0" anchor="ctr"/>
          <a:lstStyle/>
          <a:p>
            <a:pPr algn="ctr" indent="0" marL="0">
              <a:buNone/>
            </a:pPr>
            <a:r>
              <a:rPr lang="en-US" sz="3600" b="1" dirty="0">
                <a:solidFill>
                  <a:srgbClr val="FFB400"/>
                </a:solidFill>
                <a:latin typeface="Arial Black" pitchFamily="34" charset="0"/>
                <a:ea typeface="Arial Black" pitchFamily="34" charset="-122"/>
                <a:cs typeface="Arial Black" pitchFamily="34" charset="-120"/>
              </a:rPr>
              <a:t>5</a:t>
            </a:r>
            <a:endParaRPr lang="en-US" sz="3600" dirty="0"/>
          </a:p>
        </p:txBody>
      </p:sp>
      <p:sp>
        <p:nvSpPr>
          <p:cNvPr id="13" name="Text 10"/>
          <p:cNvSpPr/>
          <p:nvPr/>
        </p:nvSpPr>
        <p:spPr>
          <a:xfrm>
            <a:off x="3520440" y="2066544"/>
            <a:ext cx="50292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blocking gates</a:t>
            </a:r>
            <a:endParaRPr lang="en-US" sz="1600" dirty="0"/>
          </a:p>
        </p:txBody>
      </p:sp>
      <p:sp>
        <p:nvSpPr>
          <p:cNvPr id="14" name="Text 11"/>
          <p:cNvSpPr/>
          <p:nvPr/>
        </p:nvSpPr>
        <p:spPr>
          <a:xfrm>
            <a:off x="3520440" y="2404872"/>
            <a:ext cx="5029200" cy="32004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Gitleaks · Semgrep · Sonar · Trivy · Conftest</a:t>
            </a:r>
            <a:endParaRPr lang="en-US" sz="1200" dirty="0"/>
          </a:p>
        </p:txBody>
      </p:sp>
      <p:sp>
        <p:nvSpPr>
          <p:cNvPr id="15" name="Shape 12"/>
          <p:cNvSpPr/>
          <p:nvPr/>
        </p:nvSpPr>
        <p:spPr>
          <a:xfrm>
            <a:off x="2194560" y="2889504"/>
            <a:ext cx="6492240" cy="777240"/>
          </a:xfrm>
          <a:prstGeom prst="rect">
            <a:avLst/>
          </a:prstGeom>
          <a:solidFill>
            <a:srgbClr val="241934"/>
          </a:solidFill>
          <a:ln w="12700">
            <a:solidFill>
              <a:srgbClr val="7B42BC"/>
            </a:solidFill>
            <a:prstDash val="solid"/>
          </a:ln>
        </p:spPr>
      </p:sp>
      <p:sp>
        <p:nvSpPr>
          <p:cNvPr id="16" name="Text 13"/>
          <p:cNvSpPr/>
          <p:nvPr/>
        </p:nvSpPr>
        <p:spPr>
          <a:xfrm>
            <a:off x="2286000" y="2935224"/>
            <a:ext cx="1097280" cy="685800"/>
          </a:xfrm>
          <a:prstGeom prst="rect">
            <a:avLst/>
          </a:prstGeom>
          <a:noFill/>
          <a:ln/>
        </p:spPr>
        <p:txBody>
          <a:bodyPr wrap="square" lIns="0" tIns="0" rIns="0" bIns="0" rtlCol="0" anchor="ctr"/>
          <a:lstStyle/>
          <a:p>
            <a:pPr algn="ctr" indent="0" marL="0">
              <a:buNone/>
            </a:pPr>
            <a:r>
              <a:rPr lang="en-US" sz="3600" b="1" dirty="0">
                <a:solidFill>
                  <a:srgbClr val="FFB400"/>
                </a:solidFill>
                <a:latin typeface="Arial Black" pitchFamily="34" charset="0"/>
                <a:ea typeface="Arial Black" pitchFamily="34" charset="-122"/>
                <a:cs typeface="Arial Black" pitchFamily="34" charset="-120"/>
              </a:rPr>
              <a:t>8</a:t>
            </a:r>
            <a:endParaRPr lang="en-US" sz="3600" dirty="0"/>
          </a:p>
        </p:txBody>
      </p:sp>
      <p:sp>
        <p:nvSpPr>
          <p:cNvPr id="17" name="Text 14"/>
          <p:cNvSpPr/>
          <p:nvPr/>
        </p:nvSpPr>
        <p:spPr>
          <a:xfrm>
            <a:off x="3520440" y="2962656"/>
            <a:ext cx="50292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integrated tools</a:t>
            </a:r>
            <a:endParaRPr lang="en-US" sz="1600" dirty="0"/>
          </a:p>
        </p:txBody>
      </p:sp>
      <p:sp>
        <p:nvSpPr>
          <p:cNvPr id="18" name="Text 15"/>
          <p:cNvSpPr/>
          <p:nvPr/>
        </p:nvSpPr>
        <p:spPr>
          <a:xfrm>
            <a:off x="3520440" y="3300984"/>
            <a:ext cx="5029200" cy="32004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across 6 security categories</a:t>
            </a:r>
            <a:endParaRPr lang="en-US" sz="1200" dirty="0"/>
          </a:p>
        </p:txBody>
      </p:sp>
      <p:sp>
        <p:nvSpPr>
          <p:cNvPr id="19" name="Shape 16"/>
          <p:cNvSpPr/>
          <p:nvPr/>
        </p:nvSpPr>
        <p:spPr>
          <a:xfrm>
            <a:off x="2194560" y="3785616"/>
            <a:ext cx="6492240" cy="777240"/>
          </a:xfrm>
          <a:prstGeom prst="rect">
            <a:avLst/>
          </a:prstGeom>
          <a:solidFill>
            <a:srgbClr val="241934"/>
          </a:solidFill>
          <a:ln w="12700">
            <a:solidFill>
              <a:srgbClr val="7B42BC"/>
            </a:solidFill>
            <a:prstDash val="solid"/>
          </a:ln>
        </p:spPr>
      </p:sp>
      <p:sp>
        <p:nvSpPr>
          <p:cNvPr id="20" name="Text 17"/>
          <p:cNvSpPr/>
          <p:nvPr/>
        </p:nvSpPr>
        <p:spPr>
          <a:xfrm>
            <a:off x="2286000" y="3831336"/>
            <a:ext cx="1097280" cy="685800"/>
          </a:xfrm>
          <a:prstGeom prst="rect">
            <a:avLst/>
          </a:prstGeom>
          <a:noFill/>
          <a:ln/>
        </p:spPr>
        <p:txBody>
          <a:bodyPr wrap="square" lIns="0" tIns="0" rIns="0" bIns="0" rtlCol="0" anchor="ctr"/>
          <a:lstStyle/>
          <a:p>
            <a:pPr algn="ctr" indent="0" marL="0">
              <a:buNone/>
            </a:pPr>
            <a:r>
              <a:rPr lang="en-US" sz="3600" b="1" dirty="0">
                <a:solidFill>
                  <a:srgbClr val="FFB400"/>
                </a:solidFill>
                <a:latin typeface="Arial Black" pitchFamily="34" charset="0"/>
                <a:ea typeface="Arial Black" pitchFamily="34" charset="-122"/>
                <a:cs typeface="Arial Black" pitchFamily="34" charset="-120"/>
              </a:rPr>
              <a:t>&lt;15</a:t>
            </a:r>
            <a:endParaRPr lang="en-US" sz="3600" dirty="0"/>
          </a:p>
        </p:txBody>
      </p:sp>
      <p:sp>
        <p:nvSpPr>
          <p:cNvPr id="21" name="Text 18"/>
          <p:cNvSpPr/>
          <p:nvPr/>
        </p:nvSpPr>
        <p:spPr>
          <a:xfrm>
            <a:off x="3520440" y="3858768"/>
            <a:ext cx="50292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min runtime</a:t>
            </a:r>
            <a:endParaRPr lang="en-US" sz="1600" dirty="0"/>
          </a:p>
        </p:txBody>
      </p:sp>
      <p:sp>
        <p:nvSpPr>
          <p:cNvPr id="22" name="Text 19"/>
          <p:cNvSpPr/>
          <p:nvPr/>
        </p:nvSpPr>
        <p:spPr>
          <a:xfrm>
            <a:off x="3520440" y="4197096"/>
            <a:ext cx="5029200" cy="32004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with caching + parallel jobs</a:t>
            </a:r>
            <a:endParaRPr lang="en-US" sz="1200" dirty="0"/>
          </a:p>
        </p:txBody>
      </p:sp>
      <p:sp>
        <p:nvSpPr>
          <p:cNvPr id="23" name="Text 20"/>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24" name="Text 21"/>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Demo Story — Red → Green</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pic>
        <p:nvPicPr>
          <p:cNvPr id="5" name="Image 0" descr="D:\AegisFlow\docs\diagrams\04-sequence-pipeline-blocking.png">    </p:cNvPr>
          <p:cNvPicPr>
            <a:picLocks noChangeAspect="1"/>
          </p:cNvPicPr>
          <p:nvPr/>
        </p:nvPicPr>
        <p:blipFill>
          <a:blip r:embed="rId1"/>
          <a:stretch>
            <a:fillRect/>
          </a:stretch>
        </p:blipFill>
        <p:spPr>
          <a:xfrm>
            <a:off x="1949547" y="1097280"/>
            <a:ext cx="5244907" cy="3291840"/>
          </a:xfrm>
          <a:prstGeom prst="rect">
            <a:avLst/>
          </a:prstGeom>
        </p:spPr>
      </p:pic>
      <p:sp>
        <p:nvSpPr>
          <p:cNvPr id="6" name="Text 3"/>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200" i="1" dirty="0">
                <a:solidFill>
                  <a:srgbClr val="B8B5C0"/>
                </a:solidFill>
                <a:latin typeface="Calibri" pitchFamily="34" charset="0"/>
                <a:ea typeface="Calibri" pitchFamily="34" charset="-122"/>
                <a:cs typeface="Calibri" pitchFamily="34" charset="-120"/>
              </a:rPr>
              <a:t>3 iterations · 3 blocking gates · 3 shift-left wins — each red and each green commit is a real entry in git log.</a:t>
            </a:r>
            <a:endParaRPr lang="en-US" sz="1200" dirty="0"/>
          </a:p>
        </p:txBody>
      </p:sp>
      <p:sp>
        <p:nvSpPr>
          <p:cNvPr id="7" name="Text 4"/>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8" name="Text 5"/>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Live Demo</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457200" y="1188720"/>
            <a:ext cx="4023360" cy="1554480"/>
          </a:xfrm>
          <a:prstGeom prst="rect">
            <a:avLst/>
          </a:prstGeom>
          <a:solidFill>
            <a:srgbClr val="241934"/>
          </a:solidFill>
          <a:ln w="12700">
            <a:solidFill>
              <a:srgbClr val="7B42BC"/>
            </a:solidFill>
            <a:prstDash val="solid"/>
          </a:ln>
        </p:spPr>
      </p:sp>
      <p:sp>
        <p:nvSpPr>
          <p:cNvPr id="6" name="Shape 4"/>
          <p:cNvSpPr/>
          <p:nvPr/>
        </p:nvSpPr>
        <p:spPr>
          <a:xfrm>
            <a:off x="457200" y="1188720"/>
            <a:ext cx="4023360" cy="274320"/>
          </a:xfrm>
          <a:prstGeom prst="rect">
            <a:avLst/>
          </a:prstGeom>
          <a:solidFill>
            <a:srgbClr val="1A1228"/>
          </a:solidFill>
          <a:ln w="12700">
            <a:solidFill>
              <a:srgbClr val="7B42BC"/>
            </a:solidFill>
            <a:prstDash val="solid"/>
          </a:ln>
        </p:spPr>
      </p:sp>
      <p:sp>
        <p:nvSpPr>
          <p:cNvPr id="7" name="Shape 5"/>
          <p:cNvSpPr/>
          <p:nvPr/>
        </p:nvSpPr>
        <p:spPr>
          <a:xfrm>
            <a:off x="548640" y="1261872"/>
            <a:ext cx="128016" cy="128016"/>
          </a:xfrm>
          <a:prstGeom prst="ellipse">
            <a:avLst/>
          </a:prstGeom>
          <a:solidFill>
            <a:srgbClr val="FF5F57"/>
          </a:solidFill>
          <a:ln w="12700">
            <a:solidFill>
              <a:srgbClr val="FF5F57"/>
            </a:solidFill>
            <a:prstDash val="solid"/>
          </a:ln>
        </p:spPr>
      </p:sp>
      <p:sp>
        <p:nvSpPr>
          <p:cNvPr id="8" name="Shape 6"/>
          <p:cNvSpPr/>
          <p:nvPr/>
        </p:nvSpPr>
        <p:spPr>
          <a:xfrm>
            <a:off x="713232" y="1261872"/>
            <a:ext cx="128016" cy="128016"/>
          </a:xfrm>
          <a:prstGeom prst="ellipse">
            <a:avLst/>
          </a:prstGeom>
          <a:solidFill>
            <a:srgbClr val="FEBC2E"/>
          </a:solidFill>
          <a:ln w="12700">
            <a:solidFill>
              <a:srgbClr val="FEBC2E"/>
            </a:solidFill>
            <a:prstDash val="solid"/>
          </a:ln>
        </p:spPr>
      </p:sp>
      <p:sp>
        <p:nvSpPr>
          <p:cNvPr id="9" name="Shape 7"/>
          <p:cNvSpPr/>
          <p:nvPr/>
        </p:nvSpPr>
        <p:spPr>
          <a:xfrm>
            <a:off x="877824" y="1261872"/>
            <a:ext cx="128016" cy="128016"/>
          </a:xfrm>
          <a:prstGeom prst="ellipse">
            <a:avLst/>
          </a:prstGeom>
          <a:solidFill>
            <a:srgbClr val="28C840"/>
          </a:solidFill>
          <a:ln w="12700">
            <a:solidFill>
              <a:srgbClr val="28C840"/>
            </a:solidFill>
            <a:prstDash val="solid"/>
          </a:ln>
        </p:spPr>
      </p:sp>
      <p:sp>
        <p:nvSpPr>
          <p:cNvPr id="10" name="Text 8"/>
          <p:cNvSpPr/>
          <p:nvPr/>
        </p:nvSpPr>
        <p:spPr>
          <a:xfrm>
            <a:off x="594360" y="1554480"/>
            <a:ext cx="457200" cy="457200"/>
          </a:xfrm>
          <a:prstGeom prst="rect">
            <a:avLst/>
          </a:prstGeom>
          <a:noFill/>
          <a:ln/>
        </p:spPr>
        <p:txBody>
          <a:bodyPr wrap="square" lIns="0" tIns="0" rIns="0" bIns="0" rtlCol="0" anchor="ctr"/>
          <a:lstStyle/>
          <a:p>
            <a:pPr algn="ctr" indent="0" marL="0">
              <a:buNone/>
            </a:pPr>
            <a:r>
              <a:rPr lang="en-US" sz="2800" b="1" dirty="0">
                <a:solidFill>
                  <a:srgbClr val="EF4444"/>
                </a:solidFill>
                <a:latin typeface="Arial Black" pitchFamily="34" charset="0"/>
                <a:ea typeface="Arial Black" pitchFamily="34" charset="-122"/>
                <a:cs typeface="Arial Black" pitchFamily="34" charset="-120"/>
              </a:rPr>
              <a:t>✕</a:t>
            </a:r>
            <a:endParaRPr lang="en-US" sz="2800" dirty="0"/>
          </a:p>
        </p:txBody>
      </p:sp>
      <p:sp>
        <p:nvSpPr>
          <p:cNvPr id="11" name="Text 9"/>
          <p:cNvSpPr/>
          <p:nvPr/>
        </p:nvSpPr>
        <p:spPr>
          <a:xfrm>
            <a:off x="1097280" y="1554480"/>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 Actions · RED</a:t>
            </a:r>
            <a:endParaRPr lang="en-US" sz="1500" dirty="0"/>
          </a:p>
        </p:txBody>
      </p:sp>
      <p:sp>
        <p:nvSpPr>
          <p:cNvPr id="12" name="Text 10"/>
          <p:cNvSpPr/>
          <p:nvPr/>
        </p:nvSpPr>
        <p:spPr>
          <a:xfrm>
            <a:off x="594360" y="2103120"/>
            <a:ext cx="3749040" cy="548640"/>
          </a:xfrm>
          <a:prstGeom prst="rect">
            <a:avLst/>
          </a:prstGeom>
          <a:noFill/>
          <a:ln/>
        </p:spPr>
        <p:txBody>
          <a:bodyPr wrap="square" lIns="0" tIns="0" rIns="0" bIns="0" rtlCol="0" anchor="t"/>
          <a:lstStyle/>
          <a:p>
            <a:pPr indent="0" marL="0">
              <a:buNone/>
            </a:pPr>
            <a:r>
              <a:rPr lang="en-US" sz="1000" dirty="0">
                <a:solidFill>
                  <a:srgbClr val="B8B5C0"/>
                </a:solidFill>
                <a:latin typeface="Consolas" pitchFamily="34" charset="0"/>
                <a:ea typeface="Consolas" pitchFamily="34" charset="-122"/>
                <a:cs typeface="Consolas" pitchFamily="34" charset="-120"/>
              </a:rPr>
              <a:t>github.com/anlehtouf/AegisFlow-DevSecOps/actions/runs/&lt;red&gt;</a:t>
            </a:r>
            <a:endParaRPr lang="en-US" sz="1000" dirty="0"/>
          </a:p>
        </p:txBody>
      </p:sp>
      <p:sp>
        <p:nvSpPr>
          <p:cNvPr id="13" name="Shape 11"/>
          <p:cNvSpPr/>
          <p:nvPr/>
        </p:nvSpPr>
        <p:spPr>
          <a:xfrm>
            <a:off x="4663440" y="1188720"/>
            <a:ext cx="4023360" cy="1554480"/>
          </a:xfrm>
          <a:prstGeom prst="rect">
            <a:avLst/>
          </a:prstGeom>
          <a:solidFill>
            <a:srgbClr val="241934"/>
          </a:solidFill>
          <a:ln w="12700">
            <a:solidFill>
              <a:srgbClr val="7B42BC"/>
            </a:solidFill>
            <a:prstDash val="solid"/>
          </a:ln>
        </p:spPr>
      </p:sp>
      <p:sp>
        <p:nvSpPr>
          <p:cNvPr id="14" name="Shape 12"/>
          <p:cNvSpPr/>
          <p:nvPr/>
        </p:nvSpPr>
        <p:spPr>
          <a:xfrm>
            <a:off x="4663440" y="1188720"/>
            <a:ext cx="4023360" cy="274320"/>
          </a:xfrm>
          <a:prstGeom prst="rect">
            <a:avLst/>
          </a:prstGeom>
          <a:solidFill>
            <a:srgbClr val="1A1228"/>
          </a:solidFill>
          <a:ln w="12700">
            <a:solidFill>
              <a:srgbClr val="7B42BC"/>
            </a:solidFill>
            <a:prstDash val="solid"/>
          </a:ln>
        </p:spPr>
      </p:sp>
      <p:sp>
        <p:nvSpPr>
          <p:cNvPr id="15" name="Shape 13"/>
          <p:cNvSpPr/>
          <p:nvPr/>
        </p:nvSpPr>
        <p:spPr>
          <a:xfrm>
            <a:off x="4754880" y="1261872"/>
            <a:ext cx="128016" cy="128016"/>
          </a:xfrm>
          <a:prstGeom prst="ellipse">
            <a:avLst/>
          </a:prstGeom>
          <a:solidFill>
            <a:srgbClr val="FF5F57"/>
          </a:solidFill>
          <a:ln w="12700">
            <a:solidFill>
              <a:srgbClr val="FF5F57"/>
            </a:solidFill>
            <a:prstDash val="solid"/>
          </a:ln>
        </p:spPr>
      </p:sp>
      <p:sp>
        <p:nvSpPr>
          <p:cNvPr id="16" name="Shape 14"/>
          <p:cNvSpPr/>
          <p:nvPr/>
        </p:nvSpPr>
        <p:spPr>
          <a:xfrm>
            <a:off x="4919472" y="1261872"/>
            <a:ext cx="128016" cy="128016"/>
          </a:xfrm>
          <a:prstGeom prst="ellipse">
            <a:avLst/>
          </a:prstGeom>
          <a:solidFill>
            <a:srgbClr val="FEBC2E"/>
          </a:solidFill>
          <a:ln w="12700">
            <a:solidFill>
              <a:srgbClr val="FEBC2E"/>
            </a:solidFill>
            <a:prstDash val="solid"/>
          </a:ln>
        </p:spPr>
      </p:sp>
      <p:sp>
        <p:nvSpPr>
          <p:cNvPr id="17" name="Shape 15"/>
          <p:cNvSpPr/>
          <p:nvPr/>
        </p:nvSpPr>
        <p:spPr>
          <a:xfrm>
            <a:off x="5084064" y="1261872"/>
            <a:ext cx="128016" cy="128016"/>
          </a:xfrm>
          <a:prstGeom prst="ellipse">
            <a:avLst/>
          </a:prstGeom>
          <a:solidFill>
            <a:srgbClr val="28C840"/>
          </a:solidFill>
          <a:ln w="12700">
            <a:solidFill>
              <a:srgbClr val="28C840"/>
            </a:solidFill>
            <a:prstDash val="solid"/>
          </a:ln>
        </p:spPr>
      </p:sp>
      <p:sp>
        <p:nvSpPr>
          <p:cNvPr id="18" name="Text 16"/>
          <p:cNvSpPr/>
          <p:nvPr/>
        </p:nvSpPr>
        <p:spPr>
          <a:xfrm>
            <a:off x="4800600" y="1554480"/>
            <a:ext cx="457200" cy="457200"/>
          </a:xfrm>
          <a:prstGeom prst="rect">
            <a:avLst/>
          </a:prstGeom>
          <a:noFill/>
          <a:ln/>
        </p:spPr>
        <p:txBody>
          <a:bodyPr wrap="square" lIns="0" tIns="0" rIns="0" bIns="0" rtlCol="0" anchor="ctr"/>
          <a:lstStyle/>
          <a:p>
            <a:pPr algn="ctr" indent="0" marL="0">
              <a:buNone/>
            </a:pPr>
            <a:r>
              <a:rPr lang="en-US" sz="2800" b="1" dirty="0">
                <a:solidFill>
                  <a:srgbClr val="10B981"/>
                </a:solidFill>
                <a:latin typeface="Arial Black" pitchFamily="34" charset="0"/>
                <a:ea typeface="Arial Black" pitchFamily="34" charset="-122"/>
                <a:cs typeface="Arial Black" pitchFamily="34" charset="-120"/>
              </a:rPr>
              <a:t>✓</a:t>
            </a:r>
            <a:endParaRPr lang="en-US" sz="2800" dirty="0"/>
          </a:p>
        </p:txBody>
      </p:sp>
      <p:sp>
        <p:nvSpPr>
          <p:cNvPr id="19" name="Text 17"/>
          <p:cNvSpPr/>
          <p:nvPr/>
        </p:nvSpPr>
        <p:spPr>
          <a:xfrm>
            <a:off x="5303520" y="1554480"/>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 Actions · GREEN</a:t>
            </a:r>
            <a:endParaRPr lang="en-US" sz="1500" dirty="0"/>
          </a:p>
        </p:txBody>
      </p:sp>
      <p:sp>
        <p:nvSpPr>
          <p:cNvPr id="20" name="Text 18"/>
          <p:cNvSpPr/>
          <p:nvPr/>
        </p:nvSpPr>
        <p:spPr>
          <a:xfrm>
            <a:off x="4800600" y="2103120"/>
            <a:ext cx="3749040" cy="548640"/>
          </a:xfrm>
          <a:prstGeom prst="rect">
            <a:avLst/>
          </a:prstGeom>
          <a:noFill/>
          <a:ln/>
        </p:spPr>
        <p:txBody>
          <a:bodyPr wrap="square" lIns="0" tIns="0" rIns="0" bIns="0" rtlCol="0" anchor="t"/>
          <a:lstStyle/>
          <a:p>
            <a:pPr indent="0" marL="0">
              <a:buNone/>
            </a:pPr>
            <a:r>
              <a:rPr lang="en-US" sz="1000" dirty="0">
                <a:solidFill>
                  <a:srgbClr val="B8B5C0"/>
                </a:solidFill>
                <a:latin typeface="Consolas" pitchFamily="34" charset="0"/>
                <a:ea typeface="Consolas" pitchFamily="34" charset="-122"/>
                <a:cs typeface="Consolas" pitchFamily="34" charset="-120"/>
              </a:rPr>
              <a:t>github.com/anlehtouf/AegisFlow-DevSecOps/actions/runs/&lt;green&gt;</a:t>
            </a:r>
            <a:endParaRPr lang="en-US" sz="1000" dirty="0"/>
          </a:p>
        </p:txBody>
      </p:sp>
      <p:sp>
        <p:nvSpPr>
          <p:cNvPr id="21" name="Shape 19"/>
          <p:cNvSpPr/>
          <p:nvPr/>
        </p:nvSpPr>
        <p:spPr>
          <a:xfrm>
            <a:off x="457200" y="2926080"/>
            <a:ext cx="4023360" cy="1554480"/>
          </a:xfrm>
          <a:prstGeom prst="rect">
            <a:avLst/>
          </a:prstGeom>
          <a:solidFill>
            <a:srgbClr val="241934"/>
          </a:solidFill>
          <a:ln w="12700">
            <a:solidFill>
              <a:srgbClr val="7B42BC"/>
            </a:solidFill>
            <a:prstDash val="solid"/>
          </a:ln>
        </p:spPr>
      </p:sp>
      <p:sp>
        <p:nvSpPr>
          <p:cNvPr id="22" name="Shape 20"/>
          <p:cNvSpPr/>
          <p:nvPr/>
        </p:nvSpPr>
        <p:spPr>
          <a:xfrm>
            <a:off x="457200" y="2926080"/>
            <a:ext cx="4023360" cy="274320"/>
          </a:xfrm>
          <a:prstGeom prst="rect">
            <a:avLst/>
          </a:prstGeom>
          <a:solidFill>
            <a:srgbClr val="1A1228"/>
          </a:solidFill>
          <a:ln w="12700">
            <a:solidFill>
              <a:srgbClr val="7B42BC"/>
            </a:solidFill>
            <a:prstDash val="solid"/>
          </a:ln>
        </p:spPr>
      </p:sp>
      <p:sp>
        <p:nvSpPr>
          <p:cNvPr id="23" name="Shape 21"/>
          <p:cNvSpPr/>
          <p:nvPr/>
        </p:nvSpPr>
        <p:spPr>
          <a:xfrm>
            <a:off x="548640" y="2999232"/>
            <a:ext cx="128016" cy="128016"/>
          </a:xfrm>
          <a:prstGeom prst="ellipse">
            <a:avLst/>
          </a:prstGeom>
          <a:solidFill>
            <a:srgbClr val="FF5F57"/>
          </a:solidFill>
          <a:ln w="12700">
            <a:solidFill>
              <a:srgbClr val="FF5F57"/>
            </a:solidFill>
            <a:prstDash val="solid"/>
          </a:ln>
        </p:spPr>
      </p:sp>
      <p:sp>
        <p:nvSpPr>
          <p:cNvPr id="24" name="Shape 22"/>
          <p:cNvSpPr/>
          <p:nvPr/>
        </p:nvSpPr>
        <p:spPr>
          <a:xfrm>
            <a:off x="713232" y="2999232"/>
            <a:ext cx="128016" cy="128016"/>
          </a:xfrm>
          <a:prstGeom prst="ellipse">
            <a:avLst/>
          </a:prstGeom>
          <a:solidFill>
            <a:srgbClr val="FEBC2E"/>
          </a:solidFill>
          <a:ln w="12700">
            <a:solidFill>
              <a:srgbClr val="FEBC2E"/>
            </a:solidFill>
            <a:prstDash val="solid"/>
          </a:ln>
        </p:spPr>
      </p:sp>
      <p:sp>
        <p:nvSpPr>
          <p:cNvPr id="25" name="Shape 23"/>
          <p:cNvSpPr/>
          <p:nvPr/>
        </p:nvSpPr>
        <p:spPr>
          <a:xfrm>
            <a:off x="877824" y="2999232"/>
            <a:ext cx="128016" cy="128016"/>
          </a:xfrm>
          <a:prstGeom prst="ellipse">
            <a:avLst/>
          </a:prstGeom>
          <a:solidFill>
            <a:srgbClr val="28C840"/>
          </a:solidFill>
          <a:ln w="12700">
            <a:solidFill>
              <a:srgbClr val="28C840"/>
            </a:solidFill>
            <a:prstDash val="solid"/>
          </a:ln>
        </p:spPr>
      </p:sp>
      <p:sp>
        <p:nvSpPr>
          <p:cNvPr id="26" name="Text 24"/>
          <p:cNvSpPr/>
          <p:nvPr/>
        </p:nvSpPr>
        <p:spPr>
          <a:xfrm>
            <a:off x="594360" y="3291840"/>
            <a:ext cx="457200" cy="457200"/>
          </a:xfrm>
          <a:prstGeom prst="rect">
            <a:avLst/>
          </a:prstGeom>
          <a:noFill/>
          <a:ln/>
        </p:spPr>
        <p:txBody>
          <a:bodyPr wrap="square" lIns="0" tIns="0" rIns="0" bIns="0" rtlCol="0" anchor="ctr"/>
          <a:lstStyle/>
          <a:p>
            <a:pPr algn="ctr" indent="0" marL="0">
              <a:buNone/>
            </a:pPr>
            <a:r>
              <a:rPr lang="en-US" sz="2800" b="1" dirty="0">
                <a:solidFill>
                  <a:srgbClr val="FFB400"/>
                </a:solidFill>
                <a:latin typeface="Arial Black" pitchFamily="34" charset="0"/>
                <a:ea typeface="Arial Black" pitchFamily="34" charset="-122"/>
                <a:cs typeface="Arial Black" pitchFamily="34" charset="-120"/>
              </a:rPr>
              <a:t>$</a:t>
            </a:r>
            <a:endParaRPr lang="en-US" sz="2800" dirty="0"/>
          </a:p>
        </p:txBody>
      </p:sp>
      <p:sp>
        <p:nvSpPr>
          <p:cNvPr id="27" name="Text 25"/>
          <p:cNvSpPr/>
          <p:nvPr/>
        </p:nvSpPr>
        <p:spPr>
          <a:xfrm>
            <a:off x="1097280" y="3291840"/>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Terminal · cosign verify</a:t>
            </a:r>
            <a:endParaRPr lang="en-US" sz="1500" dirty="0"/>
          </a:p>
        </p:txBody>
      </p:sp>
      <p:sp>
        <p:nvSpPr>
          <p:cNvPr id="28" name="Text 26"/>
          <p:cNvSpPr/>
          <p:nvPr/>
        </p:nvSpPr>
        <p:spPr>
          <a:xfrm>
            <a:off x="594360" y="3840480"/>
            <a:ext cx="3749040" cy="548640"/>
          </a:xfrm>
          <a:prstGeom prst="rect">
            <a:avLst/>
          </a:prstGeom>
          <a:noFill/>
          <a:ln/>
        </p:spPr>
        <p:txBody>
          <a:bodyPr wrap="square" lIns="0" tIns="0" rIns="0" bIns="0" rtlCol="0" anchor="t"/>
          <a:lstStyle/>
          <a:p>
            <a:pPr indent="0" marL="0">
              <a:buNone/>
            </a:pPr>
            <a:r>
              <a:rPr lang="en-US" sz="1000" dirty="0">
                <a:solidFill>
                  <a:srgbClr val="B8B5C0"/>
                </a:solidFill>
                <a:latin typeface="Consolas" pitchFamily="34" charset="0"/>
                <a:ea typeface="Consolas" pitchFamily="34" charset="-122"/>
                <a:cs typeface="Consolas" pitchFamily="34" charset="-120"/>
              </a:rPr>
              <a:t>$ cosign verify --certificate-identity-regexp ...</a:t>
            </a:r>
            <a:endParaRPr lang="en-US" sz="1000" dirty="0"/>
          </a:p>
        </p:txBody>
      </p:sp>
      <p:sp>
        <p:nvSpPr>
          <p:cNvPr id="29" name="Shape 27"/>
          <p:cNvSpPr/>
          <p:nvPr/>
        </p:nvSpPr>
        <p:spPr>
          <a:xfrm>
            <a:off x="4663440" y="2926080"/>
            <a:ext cx="4023360" cy="1554480"/>
          </a:xfrm>
          <a:prstGeom prst="rect">
            <a:avLst/>
          </a:prstGeom>
          <a:solidFill>
            <a:srgbClr val="241934"/>
          </a:solidFill>
          <a:ln w="12700">
            <a:solidFill>
              <a:srgbClr val="7B42BC"/>
            </a:solidFill>
            <a:prstDash val="solid"/>
          </a:ln>
        </p:spPr>
      </p:sp>
      <p:sp>
        <p:nvSpPr>
          <p:cNvPr id="30" name="Shape 28"/>
          <p:cNvSpPr/>
          <p:nvPr/>
        </p:nvSpPr>
        <p:spPr>
          <a:xfrm>
            <a:off x="4663440" y="2926080"/>
            <a:ext cx="4023360" cy="274320"/>
          </a:xfrm>
          <a:prstGeom prst="rect">
            <a:avLst/>
          </a:prstGeom>
          <a:solidFill>
            <a:srgbClr val="1A1228"/>
          </a:solidFill>
          <a:ln w="12700">
            <a:solidFill>
              <a:srgbClr val="7B42BC"/>
            </a:solidFill>
            <a:prstDash val="solid"/>
          </a:ln>
        </p:spPr>
      </p:sp>
      <p:sp>
        <p:nvSpPr>
          <p:cNvPr id="31" name="Shape 29"/>
          <p:cNvSpPr/>
          <p:nvPr/>
        </p:nvSpPr>
        <p:spPr>
          <a:xfrm>
            <a:off x="4754880" y="2999232"/>
            <a:ext cx="128016" cy="128016"/>
          </a:xfrm>
          <a:prstGeom prst="ellipse">
            <a:avLst/>
          </a:prstGeom>
          <a:solidFill>
            <a:srgbClr val="FF5F57"/>
          </a:solidFill>
          <a:ln w="12700">
            <a:solidFill>
              <a:srgbClr val="FF5F57"/>
            </a:solidFill>
            <a:prstDash val="solid"/>
          </a:ln>
        </p:spPr>
      </p:sp>
      <p:sp>
        <p:nvSpPr>
          <p:cNvPr id="32" name="Shape 30"/>
          <p:cNvSpPr/>
          <p:nvPr/>
        </p:nvSpPr>
        <p:spPr>
          <a:xfrm>
            <a:off x="4919472" y="2999232"/>
            <a:ext cx="128016" cy="128016"/>
          </a:xfrm>
          <a:prstGeom prst="ellipse">
            <a:avLst/>
          </a:prstGeom>
          <a:solidFill>
            <a:srgbClr val="FEBC2E"/>
          </a:solidFill>
          <a:ln w="12700">
            <a:solidFill>
              <a:srgbClr val="FEBC2E"/>
            </a:solidFill>
            <a:prstDash val="solid"/>
          </a:ln>
        </p:spPr>
      </p:sp>
      <p:sp>
        <p:nvSpPr>
          <p:cNvPr id="33" name="Shape 31"/>
          <p:cNvSpPr/>
          <p:nvPr/>
        </p:nvSpPr>
        <p:spPr>
          <a:xfrm>
            <a:off x="5084064" y="2999232"/>
            <a:ext cx="128016" cy="128016"/>
          </a:xfrm>
          <a:prstGeom prst="ellipse">
            <a:avLst/>
          </a:prstGeom>
          <a:solidFill>
            <a:srgbClr val="28C840"/>
          </a:solidFill>
          <a:ln w="12700">
            <a:solidFill>
              <a:srgbClr val="28C840"/>
            </a:solidFill>
            <a:prstDash val="solid"/>
          </a:ln>
        </p:spPr>
      </p:sp>
      <p:sp>
        <p:nvSpPr>
          <p:cNvPr id="34" name="Text 32"/>
          <p:cNvSpPr/>
          <p:nvPr/>
        </p:nvSpPr>
        <p:spPr>
          <a:xfrm>
            <a:off x="4800600" y="3291840"/>
            <a:ext cx="457200" cy="457200"/>
          </a:xfrm>
          <a:prstGeom prst="rect">
            <a:avLst/>
          </a:prstGeom>
          <a:noFill/>
          <a:ln/>
        </p:spPr>
        <p:txBody>
          <a:bodyPr wrap="square" lIns="0" tIns="0" rIns="0" bIns="0" rtlCol="0" anchor="ctr"/>
          <a:lstStyle/>
          <a:p>
            <a:pPr algn="ctr" indent="0" marL="0">
              <a:buNone/>
            </a:pPr>
            <a:r>
              <a:rPr lang="en-US" sz="2800" b="1" dirty="0">
                <a:solidFill>
                  <a:srgbClr val="9B6BD9"/>
                </a:solidFill>
                <a:latin typeface="Arial Black" pitchFamily="34" charset="0"/>
                <a:ea typeface="Arial Black" pitchFamily="34" charset="-122"/>
                <a:cs typeface="Arial Black" pitchFamily="34" charset="-120"/>
              </a:rPr>
              <a:t>▶</a:t>
            </a:r>
            <a:endParaRPr lang="en-US" sz="2800" dirty="0"/>
          </a:p>
        </p:txBody>
      </p:sp>
      <p:sp>
        <p:nvSpPr>
          <p:cNvPr id="35" name="Text 33"/>
          <p:cNvSpPr/>
          <p:nvPr/>
        </p:nvSpPr>
        <p:spPr>
          <a:xfrm>
            <a:off x="5303520" y="3291840"/>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SecureTrack live</a:t>
            </a:r>
            <a:endParaRPr lang="en-US" sz="1500" dirty="0"/>
          </a:p>
        </p:txBody>
      </p:sp>
      <p:sp>
        <p:nvSpPr>
          <p:cNvPr id="36" name="Text 34"/>
          <p:cNvSpPr/>
          <p:nvPr/>
        </p:nvSpPr>
        <p:spPr>
          <a:xfrm>
            <a:off x="4800600" y="3840480"/>
            <a:ext cx="3749040" cy="548640"/>
          </a:xfrm>
          <a:prstGeom prst="rect">
            <a:avLst/>
          </a:prstGeom>
          <a:noFill/>
          <a:ln/>
        </p:spPr>
        <p:txBody>
          <a:bodyPr wrap="square" lIns="0" tIns="0" rIns="0" bIns="0" rtlCol="0" anchor="t"/>
          <a:lstStyle/>
          <a:p>
            <a:pPr indent="0" marL="0">
              <a:buNone/>
            </a:pPr>
            <a:r>
              <a:rPr lang="en-US" sz="1000" dirty="0">
                <a:solidFill>
                  <a:srgbClr val="B8B5C0"/>
                </a:solidFill>
                <a:latin typeface="Consolas" pitchFamily="34" charset="0"/>
                <a:ea typeface="Consolas" pitchFamily="34" charset="-122"/>
                <a:cs typeface="Consolas" pitchFamily="34" charset="-120"/>
              </a:rPr>
              <a:t>http://localhost:3000</a:t>
            </a:r>
            <a:endParaRPr lang="en-US" sz="1000" dirty="0"/>
          </a:p>
        </p:txBody>
      </p:sp>
      <p:sp>
        <p:nvSpPr>
          <p:cNvPr id="37" name="Text 35"/>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100" i="1" dirty="0">
                <a:solidFill>
                  <a:srgbClr val="FFB400"/>
                </a:solidFill>
                <a:latin typeface="Calibri" pitchFamily="34" charset="0"/>
                <a:ea typeface="Calibri" pitchFamily="34" charset="-122"/>
                <a:cs typeface="Calibri" pitchFamily="34" charset="-120"/>
              </a:rPr>
              <a:t>Backup: 3-minute pre-recorded screen capture in case GitHub Actions is slow.</a:t>
            </a:r>
            <a:endParaRPr lang="en-US" sz="1100" dirty="0"/>
          </a:p>
        </p:txBody>
      </p:sp>
      <p:sp>
        <p:nvSpPr>
          <p:cNvPr id="38" name="Text 36"/>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39" name="Text 37"/>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Before vs After</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548640" y="1188720"/>
            <a:ext cx="3657600" cy="457200"/>
          </a:xfrm>
          <a:prstGeom prst="rect">
            <a:avLst/>
          </a:prstGeom>
          <a:solidFill>
            <a:srgbClr val="7B42BC"/>
          </a:solidFill>
          <a:ln w="12700">
            <a:solidFill>
              <a:srgbClr val="7B42BC"/>
            </a:solidFill>
            <a:prstDash val="solid"/>
          </a:ln>
        </p:spPr>
      </p:sp>
      <p:sp>
        <p:nvSpPr>
          <p:cNvPr id="6" name="Text 4"/>
          <p:cNvSpPr/>
          <p:nvPr/>
        </p:nvSpPr>
        <p:spPr>
          <a:xfrm>
            <a:off x="548640" y="1188720"/>
            <a:ext cx="3657600" cy="457200"/>
          </a:xfrm>
          <a:prstGeom prst="rect">
            <a:avLst/>
          </a:prstGeom>
          <a:noFill/>
          <a:ln/>
        </p:spPr>
        <p:txBody>
          <a:bodyPr wrap="square" lIns="1905" tIns="1905" rIns="1905" bIns="1905"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Metric</a:t>
            </a:r>
            <a:endParaRPr lang="en-US" sz="1600" dirty="0"/>
          </a:p>
        </p:txBody>
      </p:sp>
      <p:sp>
        <p:nvSpPr>
          <p:cNvPr id="7" name="Shape 5"/>
          <p:cNvSpPr/>
          <p:nvPr/>
        </p:nvSpPr>
        <p:spPr>
          <a:xfrm>
            <a:off x="4206240" y="1188720"/>
            <a:ext cx="2194560" cy="457200"/>
          </a:xfrm>
          <a:prstGeom prst="rect">
            <a:avLst/>
          </a:prstGeom>
          <a:solidFill>
            <a:srgbClr val="7B42BC"/>
          </a:solidFill>
          <a:ln w="12700">
            <a:solidFill>
              <a:srgbClr val="7B42BC"/>
            </a:solidFill>
            <a:prstDash val="solid"/>
          </a:ln>
        </p:spPr>
      </p:sp>
      <p:sp>
        <p:nvSpPr>
          <p:cNvPr id="8" name="Text 6"/>
          <p:cNvSpPr/>
          <p:nvPr/>
        </p:nvSpPr>
        <p:spPr>
          <a:xfrm>
            <a:off x="4206240" y="1188720"/>
            <a:ext cx="21945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Before</a:t>
            </a:r>
            <a:endParaRPr lang="en-US" sz="1600" dirty="0"/>
          </a:p>
        </p:txBody>
      </p:sp>
      <p:sp>
        <p:nvSpPr>
          <p:cNvPr id="9" name="Shape 7"/>
          <p:cNvSpPr/>
          <p:nvPr/>
        </p:nvSpPr>
        <p:spPr>
          <a:xfrm>
            <a:off x="6400800" y="1188720"/>
            <a:ext cx="2194560" cy="457200"/>
          </a:xfrm>
          <a:prstGeom prst="rect">
            <a:avLst/>
          </a:prstGeom>
          <a:solidFill>
            <a:srgbClr val="7B42BC"/>
          </a:solidFill>
          <a:ln w="12700">
            <a:solidFill>
              <a:srgbClr val="7B42BC"/>
            </a:solidFill>
            <a:prstDash val="solid"/>
          </a:ln>
        </p:spPr>
      </p:sp>
      <p:sp>
        <p:nvSpPr>
          <p:cNvPr id="10" name="Text 8"/>
          <p:cNvSpPr/>
          <p:nvPr/>
        </p:nvSpPr>
        <p:spPr>
          <a:xfrm>
            <a:off x="6400800" y="1188720"/>
            <a:ext cx="21945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After</a:t>
            </a:r>
            <a:endParaRPr lang="en-US" sz="1600" dirty="0"/>
          </a:p>
        </p:txBody>
      </p:sp>
      <p:sp>
        <p:nvSpPr>
          <p:cNvPr id="11" name="Shape 9"/>
          <p:cNvSpPr/>
          <p:nvPr/>
        </p:nvSpPr>
        <p:spPr>
          <a:xfrm>
            <a:off x="548640" y="1645920"/>
            <a:ext cx="3657600" cy="365760"/>
          </a:xfrm>
          <a:prstGeom prst="rect">
            <a:avLst/>
          </a:prstGeom>
          <a:solidFill>
            <a:srgbClr val="241934"/>
          </a:solidFill>
          <a:ln w="6350">
            <a:solidFill>
              <a:srgbClr val="7B42BC"/>
            </a:solidFill>
            <a:prstDash val="solid"/>
          </a:ln>
        </p:spPr>
      </p:sp>
      <p:sp>
        <p:nvSpPr>
          <p:cNvPr id="12" name="Text 10"/>
          <p:cNvSpPr/>
          <p:nvPr/>
        </p:nvSpPr>
        <p:spPr>
          <a:xfrm>
            <a:off x="548640" y="164592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Hardcoded secrets</a:t>
            </a:r>
            <a:endParaRPr lang="en-US" sz="1300" dirty="0"/>
          </a:p>
        </p:txBody>
      </p:sp>
      <p:sp>
        <p:nvSpPr>
          <p:cNvPr id="13" name="Shape 11"/>
          <p:cNvSpPr/>
          <p:nvPr/>
        </p:nvSpPr>
        <p:spPr>
          <a:xfrm>
            <a:off x="4206240" y="1645920"/>
            <a:ext cx="2194560" cy="365760"/>
          </a:xfrm>
          <a:prstGeom prst="rect">
            <a:avLst/>
          </a:prstGeom>
          <a:solidFill>
            <a:srgbClr val="241934"/>
          </a:solidFill>
          <a:ln w="6350">
            <a:solidFill>
              <a:srgbClr val="7B42BC"/>
            </a:solidFill>
            <a:prstDash val="solid"/>
          </a:ln>
        </p:spPr>
      </p:sp>
      <p:sp>
        <p:nvSpPr>
          <p:cNvPr id="14" name="Text 12"/>
          <p:cNvSpPr/>
          <p:nvPr/>
        </p:nvSpPr>
        <p:spPr>
          <a:xfrm>
            <a:off x="4206240" y="164592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3</a:t>
            </a:r>
            <a:endParaRPr lang="en-US" sz="1300" dirty="0"/>
          </a:p>
        </p:txBody>
      </p:sp>
      <p:sp>
        <p:nvSpPr>
          <p:cNvPr id="15" name="Shape 13"/>
          <p:cNvSpPr/>
          <p:nvPr/>
        </p:nvSpPr>
        <p:spPr>
          <a:xfrm>
            <a:off x="6400800" y="1645920"/>
            <a:ext cx="2194560" cy="365760"/>
          </a:xfrm>
          <a:prstGeom prst="rect">
            <a:avLst/>
          </a:prstGeom>
          <a:solidFill>
            <a:srgbClr val="241934"/>
          </a:solidFill>
          <a:ln w="6350">
            <a:solidFill>
              <a:srgbClr val="7B42BC"/>
            </a:solidFill>
            <a:prstDash val="solid"/>
          </a:ln>
        </p:spPr>
      </p:sp>
      <p:sp>
        <p:nvSpPr>
          <p:cNvPr id="16" name="Text 14"/>
          <p:cNvSpPr/>
          <p:nvPr/>
        </p:nvSpPr>
        <p:spPr>
          <a:xfrm>
            <a:off x="6400800" y="164592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0</a:t>
            </a:r>
            <a:endParaRPr lang="en-US" sz="1300" dirty="0"/>
          </a:p>
        </p:txBody>
      </p:sp>
      <p:sp>
        <p:nvSpPr>
          <p:cNvPr id="17" name="Shape 15"/>
          <p:cNvSpPr/>
          <p:nvPr/>
        </p:nvSpPr>
        <p:spPr>
          <a:xfrm>
            <a:off x="548640" y="2011680"/>
            <a:ext cx="3657600" cy="365760"/>
          </a:xfrm>
          <a:prstGeom prst="rect">
            <a:avLst/>
          </a:prstGeom>
          <a:solidFill>
            <a:srgbClr val="1A1228"/>
          </a:solidFill>
          <a:ln w="6350">
            <a:solidFill>
              <a:srgbClr val="7B42BC"/>
            </a:solidFill>
            <a:prstDash val="solid"/>
          </a:ln>
        </p:spPr>
      </p:sp>
      <p:sp>
        <p:nvSpPr>
          <p:cNvPr id="18" name="Text 16"/>
          <p:cNvSpPr/>
          <p:nvPr/>
        </p:nvSpPr>
        <p:spPr>
          <a:xfrm>
            <a:off x="548640" y="201168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SAST findings</a:t>
            </a:r>
            <a:endParaRPr lang="en-US" sz="1300" dirty="0"/>
          </a:p>
        </p:txBody>
      </p:sp>
      <p:sp>
        <p:nvSpPr>
          <p:cNvPr id="19" name="Shape 17"/>
          <p:cNvSpPr/>
          <p:nvPr/>
        </p:nvSpPr>
        <p:spPr>
          <a:xfrm>
            <a:off x="4206240" y="2011680"/>
            <a:ext cx="2194560" cy="365760"/>
          </a:xfrm>
          <a:prstGeom prst="rect">
            <a:avLst/>
          </a:prstGeom>
          <a:solidFill>
            <a:srgbClr val="1A1228"/>
          </a:solidFill>
          <a:ln w="6350">
            <a:solidFill>
              <a:srgbClr val="7B42BC"/>
            </a:solidFill>
            <a:prstDash val="solid"/>
          </a:ln>
        </p:spPr>
      </p:sp>
      <p:sp>
        <p:nvSpPr>
          <p:cNvPr id="20" name="Text 18"/>
          <p:cNvSpPr/>
          <p:nvPr/>
        </p:nvSpPr>
        <p:spPr>
          <a:xfrm>
            <a:off x="4206240" y="201168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6</a:t>
            </a:r>
            <a:endParaRPr lang="en-US" sz="1300" dirty="0"/>
          </a:p>
        </p:txBody>
      </p:sp>
      <p:sp>
        <p:nvSpPr>
          <p:cNvPr id="21" name="Shape 19"/>
          <p:cNvSpPr/>
          <p:nvPr/>
        </p:nvSpPr>
        <p:spPr>
          <a:xfrm>
            <a:off x="6400800" y="2011680"/>
            <a:ext cx="2194560" cy="365760"/>
          </a:xfrm>
          <a:prstGeom prst="rect">
            <a:avLst/>
          </a:prstGeom>
          <a:solidFill>
            <a:srgbClr val="1A1228"/>
          </a:solidFill>
          <a:ln w="6350">
            <a:solidFill>
              <a:srgbClr val="7B42BC"/>
            </a:solidFill>
            <a:prstDash val="solid"/>
          </a:ln>
        </p:spPr>
      </p:sp>
      <p:sp>
        <p:nvSpPr>
          <p:cNvPr id="22" name="Text 20"/>
          <p:cNvSpPr/>
          <p:nvPr/>
        </p:nvSpPr>
        <p:spPr>
          <a:xfrm>
            <a:off x="6400800" y="201168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0</a:t>
            </a:r>
            <a:endParaRPr lang="en-US" sz="1300" dirty="0"/>
          </a:p>
        </p:txBody>
      </p:sp>
      <p:sp>
        <p:nvSpPr>
          <p:cNvPr id="23" name="Shape 21"/>
          <p:cNvSpPr/>
          <p:nvPr/>
        </p:nvSpPr>
        <p:spPr>
          <a:xfrm>
            <a:off x="548640" y="2377440"/>
            <a:ext cx="3657600" cy="365760"/>
          </a:xfrm>
          <a:prstGeom prst="rect">
            <a:avLst/>
          </a:prstGeom>
          <a:solidFill>
            <a:srgbClr val="241934"/>
          </a:solidFill>
          <a:ln w="6350">
            <a:solidFill>
              <a:srgbClr val="7B42BC"/>
            </a:solidFill>
            <a:prstDash val="solid"/>
          </a:ln>
        </p:spPr>
      </p:sp>
      <p:sp>
        <p:nvSpPr>
          <p:cNvPr id="24" name="Text 22"/>
          <p:cNvSpPr/>
          <p:nvPr/>
        </p:nvSpPr>
        <p:spPr>
          <a:xfrm>
            <a:off x="548640" y="237744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Dependency CVEs</a:t>
            </a:r>
            <a:endParaRPr lang="en-US" sz="1300" dirty="0"/>
          </a:p>
        </p:txBody>
      </p:sp>
      <p:sp>
        <p:nvSpPr>
          <p:cNvPr id="25" name="Shape 23"/>
          <p:cNvSpPr/>
          <p:nvPr/>
        </p:nvSpPr>
        <p:spPr>
          <a:xfrm>
            <a:off x="4206240" y="2377440"/>
            <a:ext cx="2194560" cy="365760"/>
          </a:xfrm>
          <a:prstGeom prst="rect">
            <a:avLst/>
          </a:prstGeom>
          <a:solidFill>
            <a:srgbClr val="241934"/>
          </a:solidFill>
          <a:ln w="6350">
            <a:solidFill>
              <a:srgbClr val="7B42BC"/>
            </a:solidFill>
            <a:prstDash val="solid"/>
          </a:ln>
        </p:spPr>
      </p:sp>
      <p:sp>
        <p:nvSpPr>
          <p:cNvPr id="26" name="Text 24"/>
          <p:cNvSpPr/>
          <p:nvPr/>
        </p:nvSpPr>
        <p:spPr>
          <a:xfrm>
            <a:off x="4206240" y="237744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2 HIGH</a:t>
            </a:r>
            <a:endParaRPr lang="en-US" sz="1300" dirty="0"/>
          </a:p>
        </p:txBody>
      </p:sp>
      <p:sp>
        <p:nvSpPr>
          <p:cNvPr id="27" name="Shape 25"/>
          <p:cNvSpPr/>
          <p:nvPr/>
        </p:nvSpPr>
        <p:spPr>
          <a:xfrm>
            <a:off x="6400800" y="2377440"/>
            <a:ext cx="2194560" cy="365760"/>
          </a:xfrm>
          <a:prstGeom prst="rect">
            <a:avLst/>
          </a:prstGeom>
          <a:solidFill>
            <a:srgbClr val="241934"/>
          </a:solidFill>
          <a:ln w="6350">
            <a:solidFill>
              <a:srgbClr val="7B42BC"/>
            </a:solidFill>
            <a:prstDash val="solid"/>
          </a:ln>
        </p:spPr>
      </p:sp>
      <p:sp>
        <p:nvSpPr>
          <p:cNvPr id="28" name="Text 26"/>
          <p:cNvSpPr/>
          <p:nvPr/>
        </p:nvSpPr>
        <p:spPr>
          <a:xfrm>
            <a:off x="6400800" y="237744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0</a:t>
            </a:r>
            <a:endParaRPr lang="en-US" sz="1300" dirty="0"/>
          </a:p>
        </p:txBody>
      </p:sp>
      <p:sp>
        <p:nvSpPr>
          <p:cNvPr id="29" name="Shape 27"/>
          <p:cNvSpPr/>
          <p:nvPr/>
        </p:nvSpPr>
        <p:spPr>
          <a:xfrm>
            <a:off x="548640" y="2743200"/>
            <a:ext cx="3657600" cy="365760"/>
          </a:xfrm>
          <a:prstGeom prst="rect">
            <a:avLst/>
          </a:prstGeom>
          <a:solidFill>
            <a:srgbClr val="1A1228"/>
          </a:solidFill>
          <a:ln w="6350">
            <a:solidFill>
              <a:srgbClr val="7B42BC"/>
            </a:solidFill>
            <a:prstDash val="solid"/>
          </a:ln>
        </p:spPr>
      </p:sp>
      <p:sp>
        <p:nvSpPr>
          <p:cNvPr id="30" name="Text 28"/>
          <p:cNvSpPr/>
          <p:nvPr/>
        </p:nvSpPr>
        <p:spPr>
          <a:xfrm>
            <a:off x="548640" y="274320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Container critical CVEs</a:t>
            </a:r>
            <a:endParaRPr lang="en-US" sz="1300" dirty="0"/>
          </a:p>
        </p:txBody>
      </p:sp>
      <p:sp>
        <p:nvSpPr>
          <p:cNvPr id="31" name="Shape 29"/>
          <p:cNvSpPr/>
          <p:nvPr/>
        </p:nvSpPr>
        <p:spPr>
          <a:xfrm>
            <a:off x="4206240" y="2743200"/>
            <a:ext cx="2194560" cy="365760"/>
          </a:xfrm>
          <a:prstGeom prst="rect">
            <a:avLst/>
          </a:prstGeom>
          <a:solidFill>
            <a:srgbClr val="1A1228"/>
          </a:solidFill>
          <a:ln w="6350">
            <a:solidFill>
              <a:srgbClr val="7B42BC"/>
            </a:solidFill>
            <a:prstDash val="solid"/>
          </a:ln>
        </p:spPr>
      </p:sp>
      <p:sp>
        <p:nvSpPr>
          <p:cNvPr id="32" name="Text 30"/>
          <p:cNvSpPr/>
          <p:nvPr/>
        </p:nvSpPr>
        <p:spPr>
          <a:xfrm>
            <a:off x="4206240" y="274320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16 + 385 HIGH</a:t>
            </a:r>
            <a:endParaRPr lang="en-US" sz="1300" dirty="0"/>
          </a:p>
        </p:txBody>
      </p:sp>
      <p:sp>
        <p:nvSpPr>
          <p:cNvPr id="33" name="Shape 31"/>
          <p:cNvSpPr/>
          <p:nvPr/>
        </p:nvSpPr>
        <p:spPr>
          <a:xfrm>
            <a:off x="6400800" y="2743200"/>
            <a:ext cx="2194560" cy="365760"/>
          </a:xfrm>
          <a:prstGeom prst="rect">
            <a:avLst/>
          </a:prstGeom>
          <a:solidFill>
            <a:srgbClr val="1A1228"/>
          </a:solidFill>
          <a:ln w="6350">
            <a:solidFill>
              <a:srgbClr val="7B42BC"/>
            </a:solidFill>
            <a:prstDash val="solid"/>
          </a:ln>
        </p:spPr>
      </p:sp>
      <p:sp>
        <p:nvSpPr>
          <p:cNvPr id="34" name="Text 32"/>
          <p:cNvSpPr/>
          <p:nvPr/>
        </p:nvSpPr>
        <p:spPr>
          <a:xfrm>
            <a:off x="6400800" y="274320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0 critical</a:t>
            </a:r>
            <a:endParaRPr lang="en-US" sz="1300" dirty="0"/>
          </a:p>
        </p:txBody>
      </p:sp>
      <p:sp>
        <p:nvSpPr>
          <p:cNvPr id="35" name="Shape 33"/>
          <p:cNvSpPr/>
          <p:nvPr/>
        </p:nvSpPr>
        <p:spPr>
          <a:xfrm>
            <a:off x="548640" y="3108960"/>
            <a:ext cx="3657600" cy="365760"/>
          </a:xfrm>
          <a:prstGeom prst="rect">
            <a:avLst/>
          </a:prstGeom>
          <a:solidFill>
            <a:srgbClr val="241934"/>
          </a:solidFill>
          <a:ln w="6350">
            <a:solidFill>
              <a:srgbClr val="7B42BC"/>
            </a:solidFill>
            <a:prstDash val="solid"/>
          </a:ln>
        </p:spPr>
      </p:sp>
      <p:sp>
        <p:nvSpPr>
          <p:cNvPr id="36" name="Text 34"/>
          <p:cNvSpPr/>
          <p:nvPr/>
        </p:nvSpPr>
        <p:spPr>
          <a:xfrm>
            <a:off x="548640" y="310896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Policy violations</a:t>
            </a:r>
            <a:endParaRPr lang="en-US" sz="1300" dirty="0"/>
          </a:p>
        </p:txBody>
      </p:sp>
      <p:sp>
        <p:nvSpPr>
          <p:cNvPr id="37" name="Shape 35"/>
          <p:cNvSpPr/>
          <p:nvPr/>
        </p:nvSpPr>
        <p:spPr>
          <a:xfrm>
            <a:off x="4206240" y="3108960"/>
            <a:ext cx="2194560" cy="365760"/>
          </a:xfrm>
          <a:prstGeom prst="rect">
            <a:avLst/>
          </a:prstGeom>
          <a:solidFill>
            <a:srgbClr val="241934"/>
          </a:solidFill>
          <a:ln w="6350">
            <a:solidFill>
              <a:srgbClr val="7B42BC"/>
            </a:solidFill>
            <a:prstDash val="solid"/>
          </a:ln>
        </p:spPr>
      </p:sp>
      <p:sp>
        <p:nvSpPr>
          <p:cNvPr id="38" name="Text 36"/>
          <p:cNvSpPr/>
          <p:nvPr/>
        </p:nvSpPr>
        <p:spPr>
          <a:xfrm>
            <a:off x="4206240" y="310896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2 fail + 1 warn</a:t>
            </a:r>
            <a:endParaRPr lang="en-US" sz="1300" dirty="0"/>
          </a:p>
        </p:txBody>
      </p:sp>
      <p:sp>
        <p:nvSpPr>
          <p:cNvPr id="39" name="Shape 37"/>
          <p:cNvSpPr/>
          <p:nvPr/>
        </p:nvSpPr>
        <p:spPr>
          <a:xfrm>
            <a:off x="6400800" y="3108960"/>
            <a:ext cx="2194560" cy="365760"/>
          </a:xfrm>
          <a:prstGeom prst="rect">
            <a:avLst/>
          </a:prstGeom>
          <a:solidFill>
            <a:srgbClr val="241934"/>
          </a:solidFill>
          <a:ln w="6350">
            <a:solidFill>
              <a:srgbClr val="7B42BC"/>
            </a:solidFill>
            <a:prstDash val="solid"/>
          </a:ln>
        </p:spPr>
      </p:sp>
      <p:sp>
        <p:nvSpPr>
          <p:cNvPr id="40" name="Text 38"/>
          <p:cNvSpPr/>
          <p:nvPr/>
        </p:nvSpPr>
        <p:spPr>
          <a:xfrm>
            <a:off x="6400800" y="310896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0</a:t>
            </a:r>
            <a:endParaRPr lang="en-US" sz="1300" dirty="0"/>
          </a:p>
        </p:txBody>
      </p:sp>
      <p:sp>
        <p:nvSpPr>
          <p:cNvPr id="41" name="Shape 39"/>
          <p:cNvSpPr/>
          <p:nvPr/>
        </p:nvSpPr>
        <p:spPr>
          <a:xfrm>
            <a:off x="548640" y="3474720"/>
            <a:ext cx="3657600" cy="365760"/>
          </a:xfrm>
          <a:prstGeom prst="rect">
            <a:avLst/>
          </a:prstGeom>
          <a:solidFill>
            <a:srgbClr val="1A1228"/>
          </a:solidFill>
          <a:ln w="6350">
            <a:solidFill>
              <a:srgbClr val="7B42BC"/>
            </a:solidFill>
            <a:prstDash val="solid"/>
          </a:ln>
        </p:spPr>
      </p:sp>
      <p:sp>
        <p:nvSpPr>
          <p:cNvPr id="42" name="Text 40"/>
          <p:cNvSpPr/>
          <p:nvPr/>
        </p:nvSpPr>
        <p:spPr>
          <a:xfrm>
            <a:off x="548640" y="347472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DAST high findings</a:t>
            </a:r>
            <a:endParaRPr lang="en-US" sz="1300" dirty="0"/>
          </a:p>
        </p:txBody>
      </p:sp>
      <p:sp>
        <p:nvSpPr>
          <p:cNvPr id="43" name="Shape 41"/>
          <p:cNvSpPr/>
          <p:nvPr/>
        </p:nvSpPr>
        <p:spPr>
          <a:xfrm>
            <a:off x="4206240" y="3474720"/>
            <a:ext cx="2194560" cy="365760"/>
          </a:xfrm>
          <a:prstGeom prst="rect">
            <a:avLst/>
          </a:prstGeom>
          <a:solidFill>
            <a:srgbClr val="1A1228"/>
          </a:solidFill>
          <a:ln w="6350">
            <a:solidFill>
              <a:srgbClr val="7B42BC"/>
            </a:solidFill>
            <a:prstDash val="solid"/>
          </a:ln>
        </p:spPr>
      </p:sp>
      <p:sp>
        <p:nvSpPr>
          <p:cNvPr id="44" name="Text 42"/>
          <p:cNvSpPr/>
          <p:nvPr/>
        </p:nvSpPr>
        <p:spPr>
          <a:xfrm>
            <a:off x="4206240" y="347472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2</a:t>
            </a:r>
            <a:endParaRPr lang="en-US" sz="1300" dirty="0"/>
          </a:p>
        </p:txBody>
      </p:sp>
      <p:sp>
        <p:nvSpPr>
          <p:cNvPr id="45" name="Shape 43"/>
          <p:cNvSpPr/>
          <p:nvPr/>
        </p:nvSpPr>
        <p:spPr>
          <a:xfrm>
            <a:off x="6400800" y="3474720"/>
            <a:ext cx="2194560" cy="365760"/>
          </a:xfrm>
          <a:prstGeom prst="rect">
            <a:avLst/>
          </a:prstGeom>
          <a:solidFill>
            <a:srgbClr val="1A1228"/>
          </a:solidFill>
          <a:ln w="6350">
            <a:solidFill>
              <a:srgbClr val="7B42BC"/>
            </a:solidFill>
            <a:prstDash val="solid"/>
          </a:ln>
        </p:spPr>
      </p:sp>
      <p:sp>
        <p:nvSpPr>
          <p:cNvPr id="46" name="Text 44"/>
          <p:cNvSpPr/>
          <p:nvPr/>
        </p:nvSpPr>
        <p:spPr>
          <a:xfrm>
            <a:off x="6400800" y="347472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0</a:t>
            </a:r>
            <a:endParaRPr lang="en-US" sz="1300" dirty="0"/>
          </a:p>
        </p:txBody>
      </p:sp>
      <p:sp>
        <p:nvSpPr>
          <p:cNvPr id="47" name="Shape 45"/>
          <p:cNvSpPr/>
          <p:nvPr/>
        </p:nvSpPr>
        <p:spPr>
          <a:xfrm>
            <a:off x="548640" y="3840480"/>
            <a:ext cx="3657600" cy="365760"/>
          </a:xfrm>
          <a:prstGeom prst="rect">
            <a:avLst/>
          </a:prstGeom>
          <a:solidFill>
            <a:srgbClr val="241934"/>
          </a:solidFill>
          <a:ln w="6350">
            <a:solidFill>
              <a:srgbClr val="7B42BC"/>
            </a:solidFill>
            <a:prstDash val="solid"/>
          </a:ln>
        </p:spPr>
      </p:sp>
      <p:sp>
        <p:nvSpPr>
          <p:cNvPr id="48" name="Text 46"/>
          <p:cNvSpPr/>
          <p:nvPr/>
        </p:nvSpPr>
        <p:spPr>
          <a:xfrm>
            <a:off x="548640" y="384048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Image size (backend)</a:t>
            </a:r>
            <a:endParaRPr lang="en-US" sz="1300" dirty="0"/>
          </a:p>
        </p:txBody>
      </p:sp>
      <p:sp>
        <p:nvSpPr>
          <p:cNvPr id="49" name="Shape 47"/>
          <p:cNvSpPr/>
          <p:nvPr/>
        </p:nvSpPr>
        <p:spPr>
          <a:xfrm>
            <a:off x="4206240" y="3840480"/>
            <a:ext cx="2194560" cy="365760"/>
          </a:xfrm>
          <a:prstGeom prst="rect">
            <a:avLst/>
          </a:prstGeom>
          <a:solidFill>
            <a:srgbClr val="241934"/>
          </a:solidFill>
          <a:ln w="6350">
            <a:solidFill>
              <a:srgbClr val="7B42BC"/>
            </a:solidFill>
            <a:prstDash val="solid"/>
          </a:ln>
        </p:spPr>
      </p:sp>
      <p:sp>
        <p:nvSpPr>
          <p:cNvPr id="50" name="Text 48"/>
          <p:cNvSpPr/>
          <p:nvPr/>
        </p:nvSpPr>
        <p:spPr>
          <a:xfrm>
            <a:off x="4206240" y="384048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~900 MB</a:t>
            </a:r>
            <a:endParaRPr lang="en-US" sz="1300" dirty="0"/>
          </a:p>
        </p:txBody>
      </p:sp>
      <p:sp>
        <p:nvSpPr>
          <p:cNvPr id="51" name="Shape 49"/>
          <p:cNvSpPr/>
          <p:nvPr/>
        </p:nvSpPr>
        <p:spPr>
          <a:xfrm>
            <a:off x="6400800" y="3840480"/>
            <a:ext cx="2194560" cy="365760"/>
          </a:xfrm>
          <a:prstGeom prst="rect">
            <a:avLst/>
          </a:prstGeom>
          <a:solidFill>
            <a:srgbClr val="241934"/>
          </a:solidFill>
          <a:ln w="6350">
            <a:solidFill>
              <a:srgbClr val="7B42BC"/>
            </a:solidFill>
            <a:prstDash val="solid"/>
          </a:ln>
        </p:spPr>
      </p:sp>
      <p:sp>
        <p:nvSpPr>
          <p:cNvPr id="52" name="Text 50"/>
          <p:cNvSpPr/>
          <p:nvPr/>
        </p:nvSpPr>
        <p:spPr>
          <a:xfrm>
            <a:off x="6400800" y="384048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~180 MB</a:t>
            </a:r>
            <a:endParaRPr lang="en-US" sz="1300" dirty="0"/>
          </a:p>
        </p:txBody>
      </p:sp>
      <p:sp>
        <p:nvSpPr>
          <p:cNvPr id="53" name="Shape 51"/>
          <p:cNvSpPr/>
          <p:nvPr/>
        </p:nvSpPr>
        <p:spPr>
          <a:xfrm>
            <a:off x="548640" y="4206240"/>
            <a:ext cx="3657600" cy="365760"/>
          </a:xfrm>
          <a:prstGeom prst="rect">
            <a:avLst/>
          </a:prstGeom>
          <a:solidFill>
            <a:srgbClr val="1A1228"/>
          </a:solidFill>
          <a:ln w="6350">
            <a:solidFill>
              <a:srgbClr val="7B42BC"/>
            </a:solidFill>
            <a:prstDash val="solid"/>
          </a:ln>
        </p:spPr>
      </p:sp>
      <p:sp>
        <p:nvSpPr>
          <p:cNvPr id="54" name="Text 52"/>
          <p:cNvSpPr/>
          <p:nvPr/>
        </p:nvSpPr>
        <p:spPr>
          <a:xfrm>
            <a:off x="548640" y="4206240"/>
            <a:ext cx="3657600" cy="365760"/>
          </a:xfrm>
          <a:prstGeom prst="rect">
            <a:avLst/>
          </a:prstGeom>
          <a:noFill/>
          <a:ln/>
        </p:spPr>
        <p:txBody>
          <a:bodyPr wrap="square" lIns="1905" tIns="1905" rIns="1905" bIns="1905" rtlCol="0" anchor="ctr"/>
          <a:lstStyle/>
          <a:p>
            <a:pPr algn="l" indent="0" marL="0">
              <a:buNone/>
            </a:pPr>
            <a:r>
              <a:rPr lang="en-US" sz="1300" dirty="0">
                <a:solidFill>
                  <a:srgbClr val="F5F5F7"/>
                </a:solidFill>
                <a:latin typeface="Calibri" pitchFamily="34" charset="0"/>
                <a:ea typeface="Calibri" pitchFamily="34" charset="-122"/>
                <a:cs typeface="Calibri" pitchFamily="34" charset="-120"/>
              </a:rPr>
              <a:t>Signed images</a:t>
            </a:r>
            <a:endParaRPr lang="en-US" sz="1300" dirty="0"/>
          </a:p>
        </p:txBody>
      </p:sp>
      <p:sp>
        <p:nvSpPr>
          <p:cNvPr id="55" name="Shape 53"/>
          <p:cNvSpPr/>
          <p:nvPr/>
        </p:nvSpPr>
        <p:spPr>
          <a:xfrm>
            <a:off x="4206240" y="4206240"/>
            <a:ext cx="2194560" cy="365760"/>
          </a:xfrm>
          <a:prstGeom prst="rect">
            <a:avLst/>
          </a:prstGeom>
          <a:solidFill>
            <a:srgbClr val="1A1228"/>
          </a:solidFill>
          <a:ln w="6350">
            <a:solidFill>
              <a:srgbClr val="7B42BC"/>
            </a:solidFill>
            <a:prstDash val="solid"/>
          </a:ln>
        </p:spPr>
      </p:sp>
      <p:sp>
        <p:nvSpPr>
          <p:cNvPr id="56" name="Text 54"/>
          <p:cNvSpPr/>
          <p:nvPr/>
        </p:nvSpPr>
        <p:spPr>
          <a:xfrm>
            <a:off x="4206240" y="4206240"/>
            <a:ext cx="2194560" cy="365760"/>
          </a:xfrm>
          <a:prstGeom prst="rect">
            <a:avLst/>
          </a:prstGeom>
          <a:noFill/>
          <a:ln/>
        </p:spPr>
        <p:txBody>
          <a:bodyPr wrap="square" lIns="0" tIns="0" rIns="0" bIns="0" rtlCol="0" anchor="ctr"/>
          <a:lstStyle/>
          <a:p>
            <a:pPr algn="ctr" indent="0" marL="0">
              <a:buNone/>
            </a:pPr>
            <a:r>
              <a:rPr lang="en-US" sz="1300" b="1" dirty="0">
                <a:solidFill>
                  <a:srgbClr val="EF4444"/>
                </a:solidFill>
                <a:latin typeface="Consolas" pitchFamily="34" charset="0"/>
                <a:ea typeface="Consolas" pitchFamily="34" charset="-122"/>
                <a:cs typeface="Consolas" pitchFamily="34" charset="-120"/>
              </a:rPr>
              <a:t>0 / 2</a:t>
            </a:r>
            <a:endParaRPr lang="en-US" sz="1300" dirty="0"/>
          </a:p>
        </p:txBody>
      </p:sp>
      <p:sp>
        <p:nvSpPr>
          <p:cNvPr id="57" name="Shape 55"/>
          <p:cNvSpPr/>
          <p:nvPr/>
        </p:nvSpPr>
        <p:spPr>
          <a:xfrm>
            <a:off x="6400800" y="4206240"/>
            <a:ext cx="2194560" cy="365760"/>
          </a:xfrm>
          <a:prstGeom prst="rect">
            <a:avLst/>
          </a:prstGeom>
          <a:solidFill>
            <a:srgbClr val="1A1228"/>
          </a:solidFill>
          <a:ln w="6350">
            <a:solidFill>
              <a:srgbClr val="7B42BC"/>
            </a:solidFill>
            <a:prstDash val="solid"/>
          </a:ln>
        </p:spPr>
      </p:sp>
      <p:sp>
        <p:nvSpPr>
          <p:cNvPr id="58" name="Text 56"/>
          <p:cNvSpPr/>
          <p:nvPr/>
        </p:nvSpPr>
        <p:spPr>
          <a:xfrm>
            <a:off x="6400800" y="4206240"/>
            <a:ext cx="2194560" cy="365760"/>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2 / 2</a:t>
            </a:r>
            <a:endParaRPr lang="en-US" sz="1300" dirty="0"/>
          </a:p>
        </p:txBody>
      </p:sp>
      <p:sp>
        <p:nvSpPr>
          <p:cNvPr id="59" name="Text 57"/>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100" i="1" dirty="0">
                <a:solidFill>
                  <a:srgbClr val="B8B5C0"/>
                </a:solidFill>
                <a:latin typeface="Calibri" pitchFamily="34" charset="0"/>
                <a:ea typeface="Calibri" pitchFamily="34" charset="-122"/>
                <a:cs typeface="Calibri" pitchFamily="34" charset="-120"/>
              </a:rPr>
              <a:t>Numbers from reports/BASELINE_SUMMARY.md and reports/HARDENED_SUMMARY.md — not estimates.</a:t>
            </a:r>
            <a:endParaRPr lang="en-US" sz="1100" dirty="0"/>
          </a:p>
        </p:txBody>
      </p:sp>
      <p:sp>
        <p:nvSpPr>
          <p:cNvPr id="60" name="Text 58"/>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61" name="Text 59"/>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Supply-Chain Proof</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484632" y="1188720"/>
            <a:ext cx="1920240" cy="640080"/>
          </a:xfrm>
          <a:prstGeom prst="rect">
            <a:avLst/>
          </a:prstGeom>
          <a:solidFill>
            <a:srgbClr val="241934"/>
          </a:solidFill>
          <a:ln w="19050">
            <a:solidFill>
              <a:srgbClr val="FFB400"/>
            </a:solidFill>
            <a:prstDash val="solid"/>
          </a:ln>
        </p:spPr>
      </p:sp>
      <p:sp>
        <p:nvSpPr>
          <p:cNvPr id="6" name="Text 4"/>
          <p:cNvSpPr/>
          <p:nvPr/>
        </p:nvSpPr>
        <p:spPr>
          <a:xfrm>
            <a:off x="484632" y="1188720"/>
            <a:ext cx="19202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GitHub Actions</a:t>
            </a:r>
            <a:endParaRPr lang="en-US" sz="1200" dirty="0"/>
          </a:p>
        </p:txBody>
      </p:sp>
      <p:sp>
        <p:nvSpPr>
          <p:cNvPr id="7" name="Text 5"/>
          <p:cNvSpPr/>
          <p:nvPr/>
        </p:nvSpPr>
        <p:spPr>
          <a:xfrm>
            <a:off x="2404872" y="1188720"/>
            <a:ext cx="164592" cy="640080"/>
          </a:xfrm>
          <a:prstGeom prst="rect">
            <a:avLst/>
          </a:prstGeom>
          <a:noFill/>
          <a:ln/>
        </p:spPr>
        <p:txBody>
          <a:bodyPr wrap="square" lIns="0" tIns="0" rIns="0" bIns="0" rtlCol="0" anchor="ctr"/>
          <a:lstStyle/>
          <a:p>
            <a:pPr algn="ctr" indent="0" marL="0">
              <a:buNone/>
            </a:pPr>
            <a:r>
              <a:rPr lang="en-US" sz="1800" b="1" dirty="0">
                <a:solidFill>
                  <a:srgbClr val="FFB400"/>
                </a:solidFill>
              </a:rPr>
              <a:t>→</a:t>
            </a:r>
            <a:endParaRPr lang="en-US" sz="1800" dirty="0"/>
          </a:p>
        </p:txBody>
      </p:sp>
      <p:sp>
        <p:nvSpPr>
          <p:cNvPr id="8" name="Shape 6"/>
          <p:cNvSpPr/>
          <p:nvPr/>
        </p:nvSpPr>
        <p:spPr>
          <a:xfrm>
            <a:off x="2569464" y="1188720"/>
            <a:ext cx="1920240" cy="640080"/>
          </a:xfrm>
          <a:prstGeom prst="rect">
            <a:avLst/>
          </a:prstGeom>
          <a:solidFill>
            <a:srgbClr val="241934"/>
          </a:solidFill>
          <a:ln w="19050">
            <a:solidFill>
              <a:srgbClr val="FFB400"/>
            </a:solidFill>
            <a:prstDash val="solid"/>
          </a:ln>
        </p:spPr>
      </p:sp>
      <p:sp>
        <p:nvSpPr>
          <p:cNvPr id="9" name="Text 7"/>
          <p:cNvSpPr/>
          <p:nvPr/>
        </p:nvSpPr>
        <p:spPr>
          <a:xfrm>
            <a:off x="2569464" y="1188720"/>
            <a:ext cx="19202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Fulcio CA</a:t>
            </a:r>
            <a:endParaRPr lang="en-US" sz="1200" dirty="0"/>
          </a:p>
        </p:txBody>
      </p:sp>
      <p:sp>
        <p:nvSpPr>
          <p:cNvPr id="10" name="Text 8"/>
          <p:cNvSpPr/>
          <p:nvPr/>
        </p:nvSpPr>
        <p:spPr>
          <a:xfrm>
            <a:off x="4489704" y="1188720"/>
            <a:ext cx="164592" cy="640080"/>
          </a:xfrm>
          <a:prstGeom prst="rect">
            <a:avLst/>
          </a:prstGeom>
          <a:noFill/>
          <a:ln/>
        </p:spPr>
        <p:txBody>
          <a:bodyPr wrap="square" lIns="0" tIns="0" rIns="0" bIns="0" rtlCol="0" anchor="ctr"/>
          <a:lstStyle/>
          <a:p>
            <a:pPr algn="ctr" indent="0" marL="0">
              <a:buNone/>
            </a:pPr>
            <a:r>
              <a:rPr lang="en-US" sz="1800" b="1" dirty="0">
                <a:solidFill>
                  <a:srgbClr val="FFB400"/>
                </a:solidFill>
              </a:rPr>
              <a:t>→</a:t>
            </a:r>
            <a:endParaRPr lang="en-US" sz="1800" dirty="0"/>
          </a:p>
        </p:txBody>
      </p:sp>
      <p:sp>
        <p:nvSpPr>
          <p:cNvPr id="11" name="Shape 9"/>
          <p:cNvSpPr/>
          <p:nvPr/>
        </p:nvSpPr>
        <p:spPr>
          <a:xfrm>
            <a:off x="4654296" y="1188720"/>
            <a:ext cx="1920240" cy="640080"/>
          </a:xfrm>
          <a:prstGeom prst="rect">
            <a:avLst/>
          </a:prstGeom>
          <a:solidFill>
            <a:srgbClr val="241934"/>
          </a:solidFill>
          <a:ln w="19050">
            <a:solidFill>
              <a:srgbClr val="FFB400"/>
            </a:solidFill>
            <a:prstDash val="solid"/>
          </a:ln>
        </p:spPr>
      </p:sp>
      <p:sp>
        <p:nvSpPr>
          <p:cNvPr id="12" name="Text 10"/>
          <p:cNvSpPr/>
          <p:nvPr/>
        </p:nvSpPr>
        <p:spPr>
          <a:xfrm>
            <a:off x="4654296" y="1188720"/>
            <a:ext cx="19202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Cosign signature</a:t>
            </a:r>
            <a:endParaRPr lang="en-US" sz="1200" dirty="0"/>
          </a:p>
        </p:txBody>
      </p:sp>
      <p:sp>
        <p:nvSpPr>
          <p:cNvPr id="13" name="Text 11"/>
          <p:cNvSpPr/>
          <p:nvPr/>
        </p:nvSpPr>
        <p:spPr>
          <a:xfrm>
            <a:off x="6574536" y="1188720"/>
            <a:ext cx="164592" cy="640080"/>
          </a:xfrm>
          <a:prstGeom prst="rect">
            <a:avLst/>
          </a:prstGeom>
          <a:noFill/>
          <a:ln/>
        </p:spPr>
        <p:txBody>
          <a:bodyPr wrap="square" lIns="0" tIns="0" rIns="0" bIns="0" rtlCol="0" anchor="ctr"/>
          <a:lstStyle/>
          <a:p>
            <a:pPr algn="ctr" indent="0" marL="0">
              <a:buNone/>
            </a:pPr>
            <a:r>
              <a:rPr lang="en-US" sz="1800" b="1" dirty="0">
                <a:solidFill>
                  <a:srgbClr val="FFB400"/>
                </a:solidFill>
              </a:rPr>
              <a:t>→</a:t>
            </a:r>
            <a:endParaRPr lang="en-US" sz="1800" dirty="0"/>
          </a:p>
        </p:txBody>
      </p:sp>
      <p:sp>
        <p:nvSpPr>
          <p:cNvPr id="14" name="Shape 12"/>
          <p:cNvSpPr/>
          <p:nvPr/>
        </p:nvSpPr>
        <p:spPr>
          <a:xfrm>
            <a:off x="6739128" y="1188720"/>
            <a:ext cx="1920240" cy="640080"/>
          </a:xfrm>
          <a:prstGeom prst="rect">
            <a:avLst/>
          </a:prstGeom>
          <a:solidFill>
            <a:srgbClr val="241934"/>
          </a:solidFill>
          <a:ln w="19050">
            <a:solidFill>
              <a:srgbClr val="FFB400"/>
            </a:solidFill>
            <a:prstDash val="solid"/>
          </a:ln>
        </p:spPr>
      </p:sp>
      <p:sp>
        <p:nvSpPr>
          <p:cNvPr id="15" name="Text 13"/>
          <p:cNvSpPr/>
          <p:nvPr/>
        </p:nvSpPr>
        <p:spPr>
          <a:xfrm>
            <a:off x="6739128" y="1188720"/>
            <a:ext cx="19202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Rekor transparency log</a:t>
            </a:r>
            <a:endParaRPr lang="en-US" sz="1200" dirty="0"/>
          </a:p>
        </p:txBody>
      </p:sp>
      <p:sp>
        <p:nvSpPr>
          <p:cNvPr id="16" name="Text 14"/>
          <p:cNvSpPr/>
          <p:nvPr/>
        </p:nvSpPr>
        <p:spPr>
          <a:xfrm>
            <a:off x="457200" y="1920240"/>
            <a:ext cx="8229600" cy="274320"/>
          </a:xfrm>
          <a:prstGeom prst="rect">
            <a:avLst/>
          </a:prstGeom>
          <a:noFill/>
          <a:ln/>
        </p:spPr>
        <p:txBody>
          <a:bodyPr wrap="square" lIns="0" tIns="0" rIns="0" bIns="0" rtlCol="0" anchor="ctr"/>
          <a:lstStyle/>
          <a:p>
            <a:pPr algn="ctr" indent="0" marL="0">
              <a:buNone/>
            </a:pPr>
            <a:r>
              <a:rPr lang="en-US" sz="1100" i="1" dirty="0">
                <a:solidFill>
                  <a:srgbClr val="B8B5C0"/>
                </a:solidFill>
                <a:latin typeface="Calibri" pitchFamily="34" charset="0"/>
                <a:ea typeface="Calibri" pitchFamily="34" charset="-122"/>
                <a:cs typeface="Calibri" pitchFamily="34" charset="-120"/>
              </a:rPr>
              <a:t>OIDC token → ephemeral signing cert → public transparency log. No private keys.</a:t>
            </a:r>
            <a:endParaRPr lang="en-US" sz="1100" dirty="0"/>
          </a:p>
        </p:txBody>
      </p:sp>
      <p:sp>
        <p:nvSpPr>
          <p:cNvPr id="17" name="Shape 15"/>
          <p:cNvSpPr/>
          <p:nvPr/>
        </p:nvSpPr>
        <p:spPr>
          <a:xfrm>
            <a:off x="548640" y="2423160"/>
            <a:ext cx="8046720" cy="2194560"/>
          </a:xfrm>
          <a:prstGeom prst="rect">
            <a:avLst/>
          </a:prstGeom>
          <a:solidFill>
            <a:srgbClr val="0D0814"/>
          </a:solidFill>
          <a:ln w="12700">
            <a:solidFill>
              <a:srgbClr val="7B42BC"/>
            </a:solidFill>
            <a:prstDash val="solid"/>
          </a:ln>
        </p:spPr>
      </p:sp>
      <p:sp>
        <p:nvSpPr>
          <p:cNvPr id="18" name="Text 16"/>
          <p:cNvSpPr/>
          <p:nvPr/>
        </p:nvSpPr>
        <p:spPr>
          <a:xfrm>
            <a:off x="731520" y="2542032"/>
            <a:ext cx="7772400" cy="914400"/>
          </a:xfrm>
          <a:prstGeom prst="rect">
            <a:avLst/>
          </a:prstGeom>
          <a:noFill/>
          <a:ln/>
        </p:spPr>
        <p:txBody>
          <a:bodyPr wrap="square" lIns="0" tIns="0" rIns="0" bIns="0" rtlCol="0" anchor="ctr"/>
          <a:lstStyle/>
          <a:p>
            <a:pPr indent="0" marL="0">
              <a:buNone/>
            </a:pPr>
            <a:r>
              <a:rPr lang="en-US" sz="1100" dirty="0">
                <a:solidFill>
                  <a:srgbClr val="FFB400"/>
                </a:solidFill>
                <a:latin typeface="Consolas" pitchFamily="34" charset="0"/>
                <a:ea typeface="Consolas" pitchFamily="34" charset="-122"/>
                <a:cs typeface="Consolas" pitchFamily="34" charset="-120"/>
              </a:rPr>
              <a:t>$ cosign verify --certificate-identity-regexp '^https://github.com/anlehtouf/' \</a:t>
            </a:r>
            <a:endParaRPr lang="en-US" sz="1100" dirty="0"/>
          </a:p>
          <a:p>
            <a:pPr indent="0" marL="0">
              <a:buNone/>
            </a:pPr>
            <a:r>
              <a:rPr lang="en-US" sz="1100" dirty="0">
                <a:solidFill>
                  <a:srgbClr val="FFB400"/>
                </a:solidFill>
                <a:latin typeface="Consolas" pitchFamily="34" charset="0"/>
                <a:ea typeface="Consolas" pitchFamily="34" charset="-122"/>
                <a:cs typeface="Consolas" pitchFamily="34" charset="-120"/>
              </a:rPr>
              <a:t>    --certificate-oidc-issuer 'https://token.actions.githubusercontent.com' \</a:t>
            </a:r>
            <a:endParaRPr lang="en-US" sz="1100" dirty="0"/>
          </a:p>
          <a:p>
            <a:pPr indent="0" marL="0">
              <a:buNone/>
            </a:pPr>
            <a:r>
              <a:rPr lang="en-US" sz="1100" dirty="0">
                <a:solidFill>
                  <a:srgbClr val="FFB400"/>
                </a:solidFill>
                <a:latin typeface="Consolas" pitchFamily="34" charset="0"/>
                <a:ea typeface="Consolas" pitchFamily="34" charset="-122"/>
                <a:cs typeface="Consolas" pitchFamily="34" charset="-120"/>
              </a:rPr>
              <a:t>    ghcr.io/anlehtouf/aegisflow-devsecops/backend@sha256:&lt;digest&gt;</a:t>
            </a:r>
            <a:endParaRPr lang="en-US" sz="1100" dirty="0"/>
          </a:p>
        </p:txBody>
      </p:sp>
      <p:sp>
        <p:nvSpPr>
          <p:cNvPr id="19" name="Text 17"/>
          <p:cNvSpPr/>
          <p:nvPr/>
        </p:nvSpPr>
        <p:spPr>
          <a:xfrm>
            <a:off x="731520" y="3520440"/>
            <a:ext cx="7772400" cy="1097280"/>
          </a:xfrm>
          <a:prstGeom prst="rect">
            <a:avLst/>
          </a:prstGeom>
          <a:noFill/>
          <a:ln/>
        </p:spPr>
        <p:txBody>
          <a:bodyPr wrap="square" lIns="0" tIns="0" rIns="0" bIns="0" rtlCol="0" anchor="ctr"/>
          <a:lstStyle/>
          <a:p>
            <a:pPr indent="0" marL="0">
              <a:buNone/>
            </a:pPr>
            <a:r>
              <a:rPr lang="en-US" sz="1100" dirty="0">
                <a:solidFill>
                  <a:srgbClr val="F5F5F7"/>
                </a:solidFill>
                <a:latin typeface="Consolas" pitchFamily="34" charset="0"/>
                <a:ea typeface="Consolas" pitchFamily="34" charset="-122"/>
                <a:cs typeface="Consolas" pitchFamily="34" charset="-120"/>
              </a:rPr>
              <a:t>Verification for ghcr.io/anlehtouf/aegisflow-devsecops/backend </a:t>
            </a:r>
            <a:endParaRPr lang="en-US" sz="1100" dirty="0"/>
          </a:p>
          <a:p>
            <a:pPr indent="0" marL="0">
              <a:buNone/>
            </a:pPr>
            <a:r>
              <a:rPr lang="en-US" sz="1100" dirty="0">
                <a:solidFill>
                  <a:srgbClr val="F5F5F7"/>
                </a:solidFill>
                <a:latin typeface="Consolas" pitchFamily="34" charset="0"/>
                <a:ea typeface="Consolas" pitchFamily="34" charset="-122"/>
                <a:cs typeface="Consolas" pitchFamily="34" charset="-120"/>
              </a:rPr>
              <a:t>The following checks were performed on each signature:</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  ✓ The cosign claims were validated</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  ✓ Existence of the claims in the transparency log was verified offline</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  ✓ The code-signing certificate was verified using trusted certificate authority</a:t>
            </a:r>
            <a:endParaRPr lang="en-US" sz="1100" dirty="0"/>
          </a:p>
        </p:txBody>
      </p:sp>
      <p:sp>
        <p:nvSpPr>
          <p:cNvPr id="20" name="Text 18"/>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21" name="Text 19"/>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Custom Semgrep Rule — the +1 Differentiator</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Text 3"/>
          <p:cNvSpPr/>
          <p:nvPr/>
        </p:nvSpPr>
        <p:spPr>
          <a:xfrm>
            <a:off x="457200" y="1280160"/>
            <a:ext cx="3291840" cy="2926080"/>
          </a:xfrm>
          <a:prstGeom prst="rect">
            <a:avLst/>
          </a:prstGeom>
          <a:noFill/>
          <a:ln/>
        </p:spPr>
        <p:txBody>
          <a:bodyPr wrap="square" lIns="0" tIns="0" rIns="0" bIns="0" rtlCol="0" anchor="ctr"/>
          <a:lstStyle/>
          <a:p>
            <a:pPr indent="0" marL="0">
              <a:spcAft>
                <a:spcPts val="1000"/>
              </a:spcAft>
              <a:buNone/>
            </a:pPr>
            <a:r>
              <a:rPr lang="en-US" sz="1400" b="1" dirty="0">
                <a:solidFill>
                  <a:srgbClr val="FFB400"/>
                </a:solidFill>
                <a:latin typeface="Calibri" pitchFamily="34" charset="0"/>
                <a:ea typeface="Calibri" pitchFamily="34" charset="-122"/>
                <a:cs typeface="Calibri" pitchFamily="34" charset="-120"/>
              </a:rPr>
              <a:t>Hand-written, </a:t>
            </a:r>
            <a:pPr indent="0" marL="0">
              <a:spcAft>
                <a:spcPts val="1000"/>
              </a:spcAft>
              <a:buNone/>
            </a:pPr>
            <a:r>
              <a:rPr lang="en-US" sz="1400" dirty="0">
                <a:solidFill>
                  <a:srgbClr val="F5F5F7"/>
                </a:solidFill>
                <a:latin typeface="Calibri" pitchFamily="34" charset="0"/>
                <a:ea typeface="Calibri" pitchFamily="34" charset="-122"/>
                <a:cs typeface="Calibri" pitchFamily="34" charset="-120"/>
              </a:rPr>
              <a:t>not from registry</a:t>
            </a:r>
            <a:endParaRPr lang="en-US" sz="1400" dirty="0"/>
          </a:p>
          <a:p>
            <a:pPr indent="0" marL="0">
              <a:spcAft>
                <a:spcPts val="1000"/>
              </a:spcAft>
              <a:buNone/>
            </a:pPr>
            <a:r>
              <a:rPr lang="en-US" sz="1400" b="1" dirty="0">
                <a:solidFill>
                  <a:srgbClr val="FFB400"/>
                </a:solidFill>
                <a:latin typeface="Calibri" pitchFamily="34" charset="0"/>
                <a:ea typeface="Calibri" pitchFamily="34" charset="-122"/>
                <a:cs typeface="Calibri" pitchFamily="34" charset="-120"/>
              </a:rPr>
              <a:t>4 variants</a:t>
            </a:r>
            <a:pPr indent="0" marL="0">
              <a:spcAft>
                <a:spcPts val="1000"/>
              </a:spcAft>
              <a:buNone/>
            </a:pPr>
            <a:r>
              <a:rPr lang="en-US" sz="1400" dirty="0">
                <a:solidFill>
                  <a:srgbClr val="F5F5F7"/>
                </a:solidFill>
                <a:latin typeface="Calibri" pitchFamily="34" charset="0"/>
                <a:ea typeface="Calibri" pitchFamily="34" charset="-122"/>
                <a:cs typeface="Calibri" pitchFamily="34" charset="-120"/>
              </a:rPr>
              <a:t> of CORS misconfig</a:t>
            </a:r>
            <a:endParaRPr lang="en-US" sz="1400" dirty="0"/>
          </a:p>
          <a:p>
            <a:pPr indent="0" marL="0">
              <a:spcAft>
                <a:spcPts val="1000"/>
              </a:spcAft>
              <a:buNone/>
            </a:pPr>
            <a:r>
              <a:rPr lang="en-US" sz="1400" b="1" dirty="0">
                <a:solidFill>
                  <a:srgbClr val="FFB400"/>
                </a:solidFill>
                <a:latin typeface="Calibri" pitchFamily="34" charset="0"/>
                <a:ea typeface="Calibri" pitchFamily="34" charset="-122"/>
                <a:cs typeface="Calibri" pitchFamily="34" charset="-120"/>
              </a:rPr>
              <a:t>OWASP A05 </a:t>
            </a:r>
            <a:pPr indent="0" marL="0">
              <a:spcAft>
                <a:spcPts val="1000"/>
              </a:spcAft>
              <a:buNone/>
            </a:pPr>
            <a:r>
              <a:rPr lang="en-US" sz="1400" dirty="0">
                <a:solidFill>
                  <a:srgbClr val="F5F5F7"/>
                </a:solidFill>
                <a:latin typeface="Calibri" pitchFamily="34" charset="0"/>
                <a:ea typeface="Calibri" pitchFamily="34" charset="-122"/>
                <a:cs typeface="Calibri" pitchFamily="34" charset="-120"/>
              </a:rPr>
              <a:t>+ CWE-942</a:t>
            </a:r>
            <a:endParaRPr lang="en-US" sz="1400" dirty="0"/>
          </a:p>
          <a:p>
            <a:pPr indent="0" marL="0">
              <a:spcAft>
                <a:spcPts val="1000"/>
              </a:spcAft>
              <a:buNone/>
            </a:pPr>
            <a:r>
              <a:rPr lang="en-US" sz="1400" b="1" dirty="0">
                <a:solidFill>
                  <a:srgbClr val="FFB400"/>
                </a:solidFill>
                <a:latin typeface="Calibri" pitchFamily="34" charset="0"/>
                <a:ea typeface="Calibri" pitchFamily="34" charset="-122"/>
                <a:cs typeface="Calibri" pitchFamily="34" charset="-120"/>
              </a:rPr>
              <a:t>ERROR severity </a:t>
            </a:r>
            <a:pPr indent="0" marL="0">
              <a:spcAft>
                <a:spcPts val="1000"/>
              </a:spcAft>
              <a:buNone/>
            </a:pPr>
            <a:r>
              <a:rPr lang="en-US" sz="1400" dirty="0">
                <a:solidFill>
                  <a:srgbClr val="F5F5F7"/>
                </a:solidFill>
                <a:latin typeface="Calibri" pitchFamily="34" charset="0"/>
                <a:ea typeface="Calibri" pitchFamily="34" charset="-122"/>
                <a:cs typeface="Calibri" pitchFamily="34" charset="-120"/>
              </a:rPr>
              <a:t>— blocking gate</a:t>
            </a:r>
            <a:endParaRPr lang="en-US" sz="1400" dirty="0"/>
          </a:p>
          <a:p>
            <a:pPr indent="0" marL="0">
              <a:spcAft>
                <a:spcPts val="1000"/>
              </a:spcAft>
              <a:buNone/>
            </a:pPr>
            <a:r>
              <a:rPr lang="en-US" sz="1400" b="1" dirty="0">
                <a:solidFill>
                  <a:srgbClr val="FFB400"/>
                </a:solidFill>
                <a:latin typeface="Calibri" pitchFamily="34" charset="0"/>
                <a:ea typeface="Calibri" pitchFamily="34" charset="-122"/>
                <a:cs typeface="Calibri" pitchFamily="34" charset="-120"/>
              </a:rPr>
              <a:t>Fires on V14 </a:t>
            </a:r>
            <a:pPr indent="0" marL="0">
              <a:spcAft>
                <a:spcPts val="1000"/>
              </a:spcAft>
              <a:buNone/>
            </a:pPr>
            <a:r>
              <a:rPr lang="en-US" sz="1400" dirty="0">
                <a:solidFill>
                  <a:srgbClr val="F5F5F7"/>
                </a:solidFill>
                <a:latin typeface="Calibri" pitchFamily="34" charset="0"/>
                <a:ea typeface="Calibri" pitchFamily="34" charset="-122"/>
                <a:cs typeface="Calibri" pitchFamily="34" charset="-120"/>
              </a:rPr>
              <a:t>in vulnerable branch</a:t>
            </a:r>
            <a:endParaRPr lang="en-US" sz="1400" dirty="0"/>
          </a:p>
        </p:txBody>
      </p:sp>
      <p:sp>
        <p:nvSpPr>
          <p:cNvPr id="6" name="Shape 4"/>
          <p:cNvSpPr/>
          <p:nvPr/>
        </p:nvSpPr>
        <p:spPr>
          <a:xfrm>
            <a:off x="4023360" y="1188720"/>
            <a:ext cx="4754880" cy="3429000"/>
          </a:xfrm>
          <a:prstGeom prst="rect">
            <a:avLst/>
          </a:prstGeom>
          <a:solidFill>
            <a:srgbClr val="0D0814"/>
          </a:solidFill>
          <a:ln w="12700">
            <a:solidFill>
              <a:srgbClr val="7B42BC"/>
            </a:solidFill>
            <a:prstDash val="solid"/>
          </a:ln>
        </p:spPr>
      </p:sp>
      <p:sp>
        <p:nvSpPr>
          <p:cNvPr id="7" name="Text 5"/>
          <p:cNvSpPr/>
          <p:nvPr/>
        </p:nvSpPr>
        <p:spPr>
          <a:xfrm>
            <a:off x="4160520" y="1298448"/>
            <a:ext cx="4480560" cy="3200400"/>
          </a:xfrm>
          <a:prstGeom prst="rect">
            <a:avLst/>
          </a:prstGeom>
          <a:noFill/>
          <a:ln/>
        </p:spPr>
        <p:txBody>
          <a:bodyPr wrap="square" lIns="0" tIns="0" rIns="0" bIns="0" rtlCol="0" anchor="ctr"/>
          <a:lstStyle/>
          <a:p>
            <a:pPr indent="0" marL="0">
              <a:buNone/>
            </a:pPr>
            <a:r>
              <a:rPr lang="en-US" sz="1000" dirty="0">
                <a:solidFill>
                  <a:srgbClr val="FFB400"/>
                </a:solidFill>
                <a:latin typeface="Consolas" pitchFamily="34" charset="0"/>
                <a:ea typeface="Consolas" pitchFamily="34" charset="-122"/>
                <a:cs typeface="Consolas" pitchFamily="34" charset="-120"/>
              </a:rPr>
              <a:t>rules:</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 id: aegisflow-cors-wildcard-origin</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languages: [javascript, typescript]</a:t>
            </a:r>
            <a:endParaRPr lang="en-US" sz="1000" dirty="0"/>
          </a:p>
          <a:p>
            <a:pPr indent="0" marL="0">
              <a:buNone/>
            </a:pPr>
            <a:r>
              <a:rPr lang="en-US" sz="1000" b="1" dirty="0">
                <a:solidFill>
                  <a:srgbClr val="EF4444"/>
                </a:solidFill>
                <a:latin typeface="Consolas" pitchFamily="34" charset="0"/>
                <a:ea typeface="Consolas" pitchFamily="34" charset="-122"/>
                <a:cs typeface="Consolas" pitchFamily="34" charset="-120"/>
              </a:rPr>
              <a:t>    severity: ERROR</a:t>
            </a:r>
            <a:endParaRPr lang="en-US" sz="1000" dirty="0"/>
          </a:p>
          <a:p>
            <a:pPr indent="0" marL="0">
              <a:buNone/>
            </a:pPr>
            <a:r>
              <a:rPr lang="en-US" sz="1000" dirty="0">
                <a:solidFill>
                  <a:srgbClr val="FFB400"/>
                </a:solidFill>
                <a:latin typeface="Consolas" pitchFamily="34" charset="0"/>
                <a:ea typeface="Consolas" pitchFamily="34" charset="-122"/>
                <a:cs typeface="Consolas" pitchFamily="34" charset="-120"/>
              </a:rPr>
              <a:t>    metadata:</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owasp: "A05:2021"</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cwe: "CWE-942"</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confidence: HIGH</a:t>
            </a:r>
            <a:endParaRPr lang="en-US" sz="1000" dirty="0"/>
          </a:p>
          <a:p>
            <a:pPr indent="0" marL="0">
              <a:buNone/>
            </a:pPr>
            <a:r>
              <a:rPr lang="en-US" sz="1000" dirty="0">
                <a:solidFill>
                  <a:srgbClr val="FFB400"/>
                </a:solidFill>
                <a:latin typeface="Consolas" pitchFamily="34" charset="0"/>
                <a:ea typeface="Consolas" pitchFamily="34" charset="-122"/>
                <a:cs typeface="Consolas" pitchFamily="34" charset="-120"/>
              </a:rPr>
              <a:t>    pattern-either:</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 pattern: cors({ ..., origin: "*", ... })</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 pattern: cors({ ..., origin: true, ... })</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 pattern: $RES.setHeader(</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"Access-Control-Allow-Origin", "*")</a:t>
            </a:r>
            <a:endParaRPr lang="en-US" sz="1000" dirty="0"/>
          </a:p>
          <a:p>
            <a:pPr indent="0" marL="0">
              <a:buNone/>
            </a:pPr>
            <a:r>
              <a:rPr lang="en-US" sz="1000" dirty="0">
                <a:solidFill>
                  <a:srgbClr val="FFB400"/>
                </a:solidFill>
                <a:latin typeface="Consolas" pitchFamily="34" charset="0"/>
                <a:ea typeface="Consolas" pitchFamily="34" charset="-122"/>
                <a:cs typeface="Consolas" pitchFamily="34" charset="-120"/>
              </a:rPr>
              <a:t>      - patterns:</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 pattern: $APP.use(cors())</a:t>
            </a:r>
            <a:endParaRPr lang="en-US" sz="1000" dirty="0"/>
          </a:p>
          <a:p>
            <a:pPr indent="0" marL="0">
              <a:buNone/>
            </a:pPr>
            <a:r>
              <a:rPr lang="en-US" sz="1000" dirty="0">
                <a:solidFill>
                  <a:srgbClr val="F5F5F7"/>
                </a:solidFill>
                <a:latin typeface="Consolas" pitchFamily="34" charset="0"/>
                <a:ea typeface="Consolas" pitchFamily="34" charset="-122"/>
                <a:cs typeface="Consolas" pitchFamily="34" charset="-120"/>
              </a:rPr>
              <a:t>        - pattern-not: $APP.use(cors({...}))</a:t>
            </a:r>
            <a:endParaRPr lang="en-US" sz="1000" dirty="0"/>
          </a:p>
        </p:txBody>
      </p:sp>
      <p:sp>
        <p:nvSpPr>
          <p:cNvPr id="8" name="Text 6"/>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9" name="Text 7"/>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Compliance Mapping</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548640" y="1325880"/>
            <a:ext cx="2286000" cy="502920"/>
          </a:xfrm>
          <a:prstGeom prst="rect">
            <a:avLst/>
          </a:prstGeom>
          <a:solidFill>
            <a:srgbClr val="7B42BC"/>
          </a:solidFill>
          <a:ln w="12700">
            <a:solidFill>
              <a:srgbClr val="7B42BC"/>
            </a:solidFill>
            <a:prstDash val="solid"/>
          </a:ln>
        </p:spPr>
      </p:sp>
      <p:sp>
        <p:nvSpPr>
          <p:cNvPr id="6" name="Text 4"/>
          <p:cNvSpPr/>
          <p:nvPr/>
        </p:nvSpPr>
        <p:spPr>
          <a:xfrm>
            <a:off x="685800" y="1325880"/>
            <a:ext cx="210312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Framework</a:t>
            </a:r>
            <a:endParaRPr lang="en-US" sz="1600" dirty="0"/>
          </a:p>
        </p:txBody>
      </p:sp>
      <p:sp>
        <p:nvSpPr>
          <p:cNvPr id="7" name="Shape 5"/>
          <p:cNvSpPr/>
          <p:nvPr/>
        </p:nvSpPr>
        <p:spPr>
          <a:xfrm>
            <a:off x="2834640" y="1325880"/>
            <a:ext cx="2743200" cy="502920"/>
          </a:xfrm>
          <a:prstGeom prst="rect">
            <a:avLst/>
          </a:prstGeom>
          <a:solidFill>
            <a:srgbClr val="7B42BC"/>
          </a:solidFill>
          <a:ln w="12700">
            <a:solidFill>
              <a:srgbClr val="7B42BC"/>
            </a:solidFill>
            <a:prstDash val="solid"/>
          </a:ln>
        </p:spPr>
      </p:sp>
      <p:sp>
        <p:nvSpPr>
          <p:cNvPr id="8" name="Text 6"/>
          <p:cNvSpPr/>
          <p:nvPr/>
        </p:nvSpPr>
        <p:spPr>
          <a:xfrm>
            <a:off x="2971800" y="1325880"/>
            <a:ext cx="256032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Domain</a:t>
            </a:r>
            <a:endParaRPr lang="en-US" sz="1600" dirty="0"/>
          </a:p>
        </p:txBody>
      </p:sp>
      <p:sp>
        <p:nvSpPr>
          <p:cNvPr id="9" name="Shape 7"/>
          <p:cNvSpPr/>
          <p:nvPr/>
        </p:nvSpPr>
        <p:spPr>
          <a:xfrm>
            <a:off x="5577840" y="1325880"/>
            <a:ext cx="3017520" cy="502920"/>
          </a:xfrm>
          <a:prstGeom prst="rect">
            <a:avLst/>
          </a:prstGeom>
          <a:solidFill>
            <a:srgbClr val="7B42BC"/>
          </a:solidFill>
          <a:ln w="12700">
            <a:solidFill>
              <a:srgbClr val="7B42BC"/>
            </a:solidFill>
            <a:prstDash val="solid"/>
          </a:ln>
        </p:spPr>
      </p:sp>
      <p:sp>
        <p:nvSpPr>
          <p:cNvPr id="10" name="Text 8"/>
          <p:cNvSpPr/>
          <p:nvPr/>
        </p:nvSpPr>
        <p:spPr>
          <a:xfrm>
            <a:off x="5715000" y="1325880"/>
            <a:ext cx="283464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Controls covered</a:t>
            </a:r>
            <a:endParaRPr lang="en-US" sz="1600" dirty="0"/>
          </a:p>
        </p:txBody>
      </p:sp>
      <p:sp>
        <p:nvSpPr>
          <p:cNvPr id="11" name="Shape 9"/>
          <p:cNvSpPr/>
          <p:nvPr/>
        </p:nvSpPr>
        <p:spPr>
          <a:xfrm>
            <a:off x="548640" y="1828800"/>
            <a:ext cx="2286000" cy="777240"/>
          </a:xfrm>
          <a:prstGeom prst="rect">
            <a:avLst/>
          </a:prstGeom>
          <a:solidFill>
            <a:srgbClr val="241934"/>
          </a:solidFill>
          <a:ln w="6350">
            <a:solidFill>
              <a:srgbClr val="7B42BC"/>
            </a:solidFill>
            <a:prstDash val="solid"/>
          </a:ln>
        </p:spPr>
      </p:sp>
      <p:sp>
        <p:nvSpPr>
          <p:cNvPr id="12" name="Text 10"/>
          <p:cNvSpPr/>
          <p:nvPr/>
        </p:nvSpPr>
        <p:spPr>
          <a:xfrm>
            <a:off x="685800" y="1828800"/>
            <a:ext cx="2103120" cy="777240"/>
          </a:xfrm>
          <a:prstGeom prst="rect">
            <a:avLst/>
          </a:prstGeom>
          <a:noFill/>
          <a:ln/>
        </p:spPr>
        <p:txBody>
          <a:bodyPr wrap="square" lIns="0" tIns="0" rIns="0" bIns="0" rtlCol="0" anchor="ctr"/>
          <a:lstStyle/>
          <a:p>
            <a:pPr indent="0" marL="0">
              <a:buNone/>
            </a:pPr>
            <a:r>
              <a:rPr lang="en-US" sz="1300" b="1" dirty="0">
                <a:solidFill>
                  <a:srgbClr val="FFB400"/>
                </a:solidFill>
                <a:latin typeface="Calibri" pitchFamily="34" charset="0"/>
                <a:ea typeface="Calibri" pitchFamily="34" charset="-122"/>
                <a:cs typeface="Calibri" pitchFamily="34" charset="-120"/>
              </a:rPr>
              <a:t>OWASP SAMM</a:t>
            </a:r>
            <a:endParaRPr lang="en-US" sz="1300" dirty="0"/>
          </a:p>
        </p:txBody>
      </p:sp>
      <p:sp>
        <p:nvSpPr>
          <p:cNvPr id="13" name="Shape 11"/>
          <p:cNvSpPr/>
          <p:nvPr/>
        </p:nvSpPr>
        <p:spPr>
          <a:xfrm>
            <a:off x="2834640" y="1828800"/>
            <a:ext cx="2743200" cy="777240"/>
          </a:xfrm>
          <a:prstGeom prst="rect">
            <a:avLst/>
          </a:prstGeom>
          <a:solidFill>
            <a:srgbClr val="241934"/>
          </a:solidFill>
          <a:ln w="6350">
            <a:solidFill>
              <a:srgbClr val="7B42BC"/>
            </a:solidFill>
            <a:prstDash val="solid"/>
          </a:ln>
        </p:spPr>
      </p:sp>
      <p:sp>
        <p:nvSpPr>
          <p:cNvPr id="14" name="Text 12"/>
          <p:cNvSpPr/>
          <p:nvPr/>
        </p:nvSpPr>
        <p:spPr>
          <a:xfrm>
            <a:off x="2971800" y="1828800"/>
            <a:ext cx="2560320" cy="77724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Verification — Security Testing</a:t>
            </a:r>
            <a:endParaRPr lang="en-US" sz="1300" dirty="0"/>
          </a:p>
        </p:txBody>
      </p:sp>
      <p:sp>
        <p:nvSpPr>
          <p:cNvPr id="15" name="Shape 13"/>
          <p:cNvSpPr/>
          <p:nvPr/>
        </p:nvSpPr>
        <p:spPr>
          <a:xfrm>
            <a:off x="5577840" y="1828800"/>
            <a:ext cx="3017520" cy="777240"/>
          </a:xfrm>
          <a:prstGeom prst="rect">
            <a:avLst/>
          </a:prstGeom>
          <a:solidFill>
            <a:srgbClr val="241934"/>
          </a:solidFill>
          <a:ln w="6350">
            <a:solidFill>
              <a:srgbClr val="7B42BC"/>
            </a:solidFill>
            <a:prstDash val="solid"/>
          </a:ln>
        </p:spPr>
      </p:sp>
      <p:sp>
        <p:nvSpPr>
          <p:cNvPr id="16" name="Text 14"/>
          <p:cNvSpPr/>
          <p:nvPr/>
        </p:nvSpPr>
        <p:spPr>
          <a:xfrm>
            <a:off x="5715000" y="1828800"/>
            <a:ext cx="2834640" cy="77724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SAST · SCA · DAST · threat modeling</a:t>
            </a:r>
            <a:endParaRPr lang="en-US" sz="1300" dirty="0"/>
          </a:p>
        </p:txBody>
      </p:sp>
      <p:sp>
        <p:nvSpPr>
          <p:cNvPr id="17" name="Shape 15"/>
          <p:cNvSpPr/>
          <p:nvPr/>
        </p:nvSpPr>
        <p:spPr>
          <a:xfrm>
            <a:off x="548640" y="2606040"/>
            <a:ext cx="2286000" cy="777240"/>
          </a:xfrm>
          <a:prstGeom prst="rect">
            <a:avLst/>
          </a:prstGeom>
          <a:solidFill>
            <a:srgbClr val="1A1228"/>
          </a:solidFill>
          <a:ln w="6350">
            <a:solidFill>
              <a:srgbClr val="7B42BC"/>
            </a:solidFill>
            <a:prstDash val="solid"/>
          </a:ln>
        </p:spPr>
      </p:sp>
      <p:sp>
        <p:nvSpPr>
          <p:cNvPr id="18" name="Text 16"/>
          <p:cNvSpPr/>
          <p:nvPr/>
        </p:nvSpPr>
        <p:spPr>
          <a:xfrm>
            <a:off x="685800" y="2606040"/>
            <a:ext cx="2103120" cy="777240"/>
          </a:xfrm>
          <a:prstGeom prst="rect">
            <a:avLst/>
          </a:prstGeom>
          <a:noFill/>
          <a:ln/>
        </p:spPr>
        <p:txBody>
          <a:bodyPr wrap="square" lIns="0" tIns="0" rIns="0" bIns="0" rtlCol="0" anchor="ctr"/>
          <a:lstStyle/>
          <a:p>
            <a:pPr indent="0" marL="0">
              <a:buNone/>
            </a:pPr>
            <a:r>
              <a:rPr lang="en-US" sz="1300" b="1" dirty="0">
                <a:solidFill>
                  <a:srgbClr val="FFB400"/>
                </a:solidFill>
                <a:latin typeface="Calibri" pitchFamily="34" charset="0"/>
                <a:ea typeface="Calibri" pitchFamily="34" charset="-122"/>
                <a:cs typeface="Calibri" pitchFamily="34" charset="-120"/>
              </a:rPr>
              <a:t>NIST SSDF v1.1</a:t>
            </a:r>
            <a:endParaRPr lang="en-US" sz="1300" dirty="0"/>
          </a:p>
        </p:txBody>
      </p:sp>
      <p:sp>
        <p:nvSpPr>
          <p:cNvPr id="19" name="Shape 17"/>
          <p:cNvSpPr/>
          <p:nvPr/>
        </p:nvSpPr>
        <p:spPr>
          <a:xfrm>
            <a:off x="2834640" y="2606040"/>
            <a:ext cx="2743200" cy="777240"/>
          </a:xfrm>
          <a:prstGeom prst="rect">
            <a:avLst/>
          </a:prstGeom>
          <a:solidFill>
            <a:srgbClr val="1A1228"/>
          </a:solidFill>
          <a:ln w="6350">
            <a:solidFill>
              <a:srgbClr val="7B42BC"/>
            </a:solidFill>
            <a:prstDash val="solid"/>
          </a:ln>
        </p:spPr>
      </p:sp>
      <p:sp>
        <p:nvSpPr>
          <p:cNvPr id="20" name="Text 18"/>
          <p:cNvSpPr/>
          <p:nvPr/>
        </p:nvSpPr>
        <p:spPr>
          <a:xfrm>
            <a:off x="2971800" y="2606040"/>
            <a:ext cx="2560320" cy="77724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PW.7 / PW.8 / PW.9 / RV.1</a:t>
            </a:r>
            <a:endParaRPr lang="en-US" sz="1300" dirty="0"/>
          </a:p>
        </p:txBody>
      </p:sp>
      <p:sp>
        <p:nvSpPr>
          <p:cNvPr id="21" name="Shape 19"/>
          <p:cNvSpPr/>
          <p:nvPr/>
        </p:nvSpPr>
        <p:spPr>
          <a:xfrm>
            <a:off x="5577840" y="2606040"/>
            <a:ext cx="3017520" cy="777240"/>
          </a:xfrm>
          <a:prstGeom prst="rect">
            <a:avLst/>
          </a:prstGeom>
          <a:solidFill>
            <a:srgbClr val="1A1228"/>
          </a:solidFill>
          <a:ln w="6350">
            <a:solidFill>
              <a:srgbClr val="7B42BC"/>
            </a:solidFill>
            <a:prstDash val="solid"/>
          </a:ln>
        </p:spPr>
      </p:sp>
      <p:sp>
        <p:nvSpPr>
          <p:cNvPr id="22" name="Text 20"/>
          <p:cNvSpPr/>
          <p:nvPr/>
        </p:nvSpPr>
        <p:spPr>
          <a:xfrm>
            <a:off x="5715000" y="2606040"/>
            <a:ext cx="2834640" cy="77724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Review code · test · configure · identify vulns</a:t>
            </a:r>
            <a:endParaRPr lang="en-US" sz="1300" dirty="0"/>
          </a:p>
        </p:txBody>
      </p:sp>
      <p:sp>
        <p:nvSpPr>
          <p:cNvPr id="23" name="Shape 21"/>
          <p:cNvSpPr/>
          <p:nvPr/>
        </p:nvSpPr>
        <p:spPr>
          <a:xfrm>
            <a:off x="548640" y="3383280"/>
            <a:ext cx="2286000" cy="777240"/>
          </a:xfrm>
          <a:prstGeom prst="rect">
            <a:avLst/>
          </a:prstGeom>
          <a:solidFill>
            <a:srgbClr val="241934"/>
          </a:solidFill>
          <a:ln w="6350">
            <a:solidFill>
              <a:srgbClr val="7B42BC"/>
            </a:solidFill>
            <a:prstDash val="solid"/>
          </a:ln>
        </p:spPr>
      </p:sp>
      <p:sp>
        <p:nvSpPr>
          <p:cNvPr id="24" name="Text 22"/>
          <p:cNvSpPr/>
          <p:nvPr/>
        </p:nvSpPr>
        <p:spPr>
          <a:xfrm>
            <a:off x="685800" y="3383280"/>
            <a:ext cx="2103120" cy="777240"/>
          </a:xfrm>
          <a:prstGeom prst="rect">
            <a:avLst/>
          </a:prstGeom>
          <a:noFill/>
          <a:ln/>
        </p:spPr>
        <p:txBody>
          <a:bodyPr wrap="square" lIns="0" tIns="0" rIns="0" bIns="0" rtlCol="0" anchor="ctr"/>
          <a:lstStyle/>
          <a:p>
            <a:pPr indent="0" marL="0">
              <a:buNone/>
            </a:pPr>
            <a:r>
              <a:rPr lang="en-US" sz="1300" b="1" dirty="0">
                <a:solidFill>
                  <a:srgbClr val="FFB400"/>
                </a:solidFill>
                <a:latin typeface="Calibri" pitchFamily="34" charset="0"/>
                <a:ea typeface="Calibri" pitchFamily="34" charset="-122"/>
                <a:cs typeface="Calibri" pitchFamily="34" charset="-120"/>
              </a:rPr>
              <a:t>ISO/IEC 27001:2022</a:t>
            </a:r>
            <a:endParaRPr lang="en-US" sz="1300" dirty="0"/>
          </a:p>
        </p:txBody>
      </p:sp>
      <p:sp>
        <p:nvSpPr>
          <p:cNvPr id="25" name="Shape 23"/>
          <p:cNvSpPr/>
          <p:nvPr/>
        </p:nvSpPr>
        <p:spPr>
          <a:xfrm>
            <a:off x="2834640" y="3383280"/>
            <a:ext cx="2743200" cy="777240"/>
          </a:xfrm>
          <a:prstGeom prst="rect">
            <a:avLst/>
          </a:prstGeom>
          <a:solidFill>
            <a:srgbClr val="241934"/>
          </a:solidFill>
          <a:ln w="6350">
            <a:solidFill>
              <a:srgbClr val="7B42BC"/>
            </a:solidFill>
            <a:prstDash val="solid"/>
          </a:ln>
        </p:spPr>
      </p:sp>
      <p:sp>
        <p:nvSpPr>
          <p:cNvPr id="26" name="Text 24"/>
          <p:cNvSpPr/>
          <p:nvPr/>
        </p:nvSpPr>
        <p:spPr>
          <a:xfrm>
            <a:off x="2971800" y="3383280"/>
            <a:ext cx="2560320" cy="77724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A.8.25 / A.8.28</a:t>
            </a:r>
            <a:endParaRPr lang="en-US" sz="1300" dirty="0"/>
          </a:p>
        </p:txBody>
      </p:sp>
      <p:sp>
        <p:nvSpPr>
          <p:cNvPr id="27" name="Shape 25"/>
          <p:cNvSpPr/>
          <p:nvPr/>
        </p:nvSpPr>
        <p:spPr>
          <a:xfrm>
            <a:off x="5577840" y="3383280"/>
            <a:ext cx="3017520" cy="777240"/>
          </a:xfrm>
          <a:prstGeom prst="rect">
            <a:avLst/>
          </a:prstGeom>
          <a:solidFill>
            <a:srgbClr val="241934"/>
          </a:solidFill>
          <a:ln w="6350">
            <a:solidFill>
              <a:srgbClr val="7B42BC"/>
            </a:solidFill>
            <a:prstDash val="solid"/>
          </a:ln>
        </p:spPr>
      </p:sp>
      <p:sp>
        <p:nvSpPr>
          <p:cNvPr id="28" name="Text 26"/>
          <p:cNvSpPr/>
          <p:nvPr/>
        </p:nvSpPr>
        <p:spPr>
          <a:xfrm>
            <a:off x="5715000" y="3383280"/>
            <a:ext cx="2834640" cy="77724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Secure development lifecycle · secure coding</a:t>
            </a:r>
            <a:endParaRPr lang="en-US" sz="1300" dirty="0"/>
          </a:p>
        </p:txBody>
      </p:sp>
      <p:sp>
        <p:nvSpPr>
          <p:cNvPr id="29" name="Text 27"/>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100" i="1" dirty="0">
                <a:solidFill>
                  <a:srgbClr val="B8B5C0"/>
                </a:solidFill>
                <a:latin typeface="Calibri" pitchFamily="34" charset="0"/>
                <a:ea typeface="Calibri" pitchFamily="34" charset="-122"/>
                <a:cs typeface="Calibri" pitchFamily="34" charset="-120"/>
              </a:rPr>
              <a:t>Full mapping in docs/compliance-mapping.md</a:t>
            </a:r>
            <a:endParaRPr lang="en-US" sz="1100" dirty="0"/>
          </a:p>
        </p:txBody>
      </p:sp>
      <p:sp>
        <p:nvSpPr>
          <p:cNvPr id="30" name="Text 28"/>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31" name="Text 29"/>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Limitations &amp; Trade-offs</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640080" y="1371600"/>
            <a:ext cx="365760" cy="365760"/>
          </a:xfrm>
          <a:prstGeom prst="ellipse">
            <a:avLst/>
          </a:prstGeom>
          <a:solidFill>
            <a:srgbClr val="241934"/>
          </a:solidFill>
          <a:ln w="19050">
            <a:solidFill>
              <a:srgbClr val="FFB400"/>
            </a:solidFill>
            <a:prstDash val="solid"/>
          </a:ln>
        </p:spPr>
      </p:sp>
      <p:sp>
        <p:nvSpPr>
          <p:cNvPr id="6" name="Text 4"/>
          <p:cNvSpPr/>
          <p:nvPr/>
        </p:nvSpPr>
        <p:spPr>
          <a:xfrm>
            <a:off x="640080" y="1371600"/>
            <a:ext cx="365760" cy="365760"/>
          </a:xfrm>
          <a:prstGeom prst="rect">
            <a:avLst/>
          </a:prstGeom>
          <a:noFill/>
          <a:ln/>
        </p:spPr>
        <p:txBody>
          <a:bodyPr wrap="square" lIns="0" tIns="0" rIns="0" bIns="0" rtlCol="0" anchor="ctr"/>
          <a:lstStyle/>
          <a:p>
            <a:pPr algn="ctr" indent="0" marL="0">
              <a:buNone/>
            </a:pPr>
            <a:r>
              <a:rPr lang="en-US" sz="1400" b="1" dirty="0">
                <a:solidFill>
                  <a:srgbClr val="FFB400"/>
                </a:solidFill>
                <a:latin typeface="Arial Black" pitchFamily="34" charset="0"/>
                <a:ea typeface="Arial Black" pitchFamily="34" charset="-122"/>
                <a:cs typeface="Arial Black" pitchFamily="34" charset="-120"/>
              </a:rPr>
              <a:t>1</a:t>
            </a:r>
            <a:endParaRPr lang="en-US" sz="1400" dirty="0"/>
          </a:p>
        </p:txBody>
      </p:sp>
      <p:sp>
        <p:nvSpPr>
          <p:cNvPr id="7" name="Text 5"/>
          <p:cNvSpPr/>
          <p:nvPr/>
        </p:nvSpPr>
        <p:spPr>
          <a:xfrm>
            <a:off x="1143000" y="1280160"/>
            <a:ext cx="731520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Single-host Docker Compose</a:t>
            </a:r>
            <a:endParaRPr lang="en-US" sz="1500" dirty="0"/>
          </a:p>
        </p:txBody>
      </p:sp>
      <p:sp>
        <p:nvSpPr>
          <p:cNvPr id="8" name="Text 6"/>
          <p:cNvSpPr/>
          <p:nvPr/>
        </p:nvSpPr>
        <p:spPr>
          <a:xfrm>
            <a:off x="1143000" y="1572768"/>
            <a:ext cx="7315200" cy="27432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Not Kubernetes — deliberate scope</a:t>
            </a:r>
            <a:endParaRPr lang="en-US" sz="1200" dirty="0"/>
          </a:p>
        </p:txBody>
      </p:sp>
      <p:sp>
        <p:nvSpPr>
          <p:cNvPr id="9" name="Shape 7"/>
          <p:cNvSpPr/>
          <p:nvPr/>
        </p:nvSpPr>
        <p:spPr>
          <a:xfrm>
            <a:off x="640080" y="2011680"/>
            <a:ext cx="365760" cy="365760"/>
          </a:xfrm>
          <a:prstGeom prst="ellipse">
            <a:avLst/>
          </a:prstGeom>
          <a:solidFill>
            <a:srgbClr val="241934"/>
          </a:solidFill>
          <a:ln w="19050">
            <a:solidFill>
              <a:srgbClr val="FFB400"/>
            </a:solidFill>
            <a:prstDash val="solid"/>
          </a:ln>
        </p:spPr>
      </p:sp>
      <p:sp>
        <p:nvSpPr>
          <p:cNvPr id="10" name="Text 8"/>
          <p:cNvSpPr/>
          <p:nvPr/>
        </p:nvSpPr>
        <p:spPr>
          <a:xfrm>
            <a:off x="640080" y="2011680"/>
            <a:ext cx="365760" cy="365760"/>
          </a:xfrm>
          <a:prstGeom prst="rect">
            <a:avLst/>
          </a:prstGeom>
          <a:noFill/>
          <a:ln/>
        </p:spPr>
        <p:txBody>
          <a:bodyPr wrap="square" lIns="0" tIns="0" rIns="0" bIns="0" rtlCol="0" anchor="ctr"/>
          <a:lstStyle/>
          <a:p>
            <a:pPr algn="ctr" indent="0" marL="0">
              <a:buNone/>
            </a:pPr>
            <a:r>
              <a:rPr lang="en-US" sz="1400" b="1" dirty="0">
                <a:solidFill>
                  <a:srgbClr val="FFB400"/>
                </a:solidFill>
                <a:latin typeface="Arial Black" pitchFamily="34" charset="0"/>
                <a:ea typeface="Arial Black" pitchFamily="34" charset="-122"/>
                <a:cs typeface="Arial Black" pitchFamily="34" charset="-120"/>
              </a:rPr>
              <a:t>2</a:t>
            </a:r>
            <a:endParaRPr lang="en-US" sz="1400" dirty="0"/>
          </a:p>
        </p:txBody>
      </p:sp>
      <p:sp>
        <p:nvSpPr>
          <p:cNvPr id="11" name="Text 9"/>
          <p:cNvSpPr/>
          <p:nvPr/>
        </p:nvSpPr>
        <p:spPr>
          <a:xfrm>
            <a:off x="1143000" y="1920240"/>
            <a:ext cx="731520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ZAP baseline only</a:t>
            </a:r>
            <a:endParaRPr lang="en-US" sz="1500" dirty="0"/>
          </a:p>
        </p:txBody>
      </p:sp>
      <p:sp>
        <p:nvSpPr>
          <p:cNvPr id="12" name="Text 10"/>
          <p:cNvSpPr/>
          <p:nvPr/>
        </p:nvSpPr>
        <p:spPr>
          <a:xfrm>
            <a:off x="1143000" y="2212848"/>
            <a:ext cx="7315200" cy="27432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Not full active scan — runtime budget</a:t>
            </a:r>
            <a:endParaRPr lang="en-US" sz="1200" dirty="0"/>
          </a:p>
        </p:txBody>
      </p:sp>
      <p:sp>
        <p:nvSpPr>
          <p:cNvPr id="13" name="Shape 11"/>
          <p:cNvSpPr/>
          <p:nvPr/>
        </p:nvSpPr>
        <p:spPr>
          <a:xfrm>
            <a:off x="640080" y="2651760"/>
            <a:ext cx="365760" cy="365760"/>
          </a:xfrm>
          <a:prstGeom prst="ellipse">
            <a:avLst/>
          </a:prstGeom>
          <a:solidFill>
            <a:srgbClr val="241934"/>
          </a:solidFill>
          <a:ln w="19050">
            <a:solidFill>
              <a:srgbClr val="FFB400"/>
            </a:solidFill>
            <a:prstDash val="solid"/>
          </a:ln>
        </p:spPr>
      </p:sp>
      <p:sp>
        <p:nvSpPr>
          <p:cNvPr id="14" name="Text 12"/>
          <p:cNvSpPr/>
          <p:nvPr/>
        </p:nvSpPr>
        <p:spPr>
          <a:xfrm>
            <a:off x="640080" y="2651760"/>
            <a:ext cx="365760" cy="365760"/>
          </a:xfrm>
          <a:prstGeom prst="rect">
            <a:avLst/>
          </a:prstGeom>
          <a:noFill/>
          <a:ln/>
        </p:spPr>
        <p:txBody>
          <a:bodyPr wrap="square" lIns="0" tIns="0" rIns="0" bIns="0" rtlCol="0" anchor="ctr"/>
          <a:lstStyle/>
          <a:p>
            <a:pPr algn="ctr" indent="0" marL="0">
              <a:buNone/>
            </a:pPr>
            <a:r>
              <a:rPr lang="en-US" sz="1400" b="1" dirty="0">
                <a:solidFill>
                  <a:srgbClr val="FFB400"/>
                </a:solidFill>
                <a:latin typeface="Arial Black" pitchFamily="34" charset="0"/>
                <a:ea typeface="Arial Black" pitchFamily="34" charset="-122"/>
                <a:cs typeface="Arial Black" pitchFamily="34" charset="-120"/>
              </a:rPr>
              <a:t>3</a:t>
            </a:r>
            <a:endParaRPr lang="en-US" sz="1400" dirty="0"/>
          </a:p>
        </p:txBody>
      </p:sp>
      <p:sp>
        <p:nvSpPr>
          <p:cNvPr id="15" name="Text 13"/>
          <p:cNvSpPr/>
          <p:nvPr/>
        </p:nvSpPr>
        <p:spPr>
          <a:xfrm>
            <a:off x="1143000" y="2560320"/>
            <a:ext cx="731520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Demo-scale data</a:t>
            </a:r>
            <a:endParaRPr lang="en-US" sz="1500" dirty="0"/>
          </a:p>
        </p:txBody>
      </p:sp>
      <p:sp>
        <p:nvSpPr>
          <p:cNvPr id="16" name="Text 14"/>
          <p:cNvSpPr/>
          <p:nvPr/>
        </p:nvSpPr>
        <p:spPr>
          <a:xfrm>
            <a:off x="1143000" y="2852928"/>
            <a:ext cx="7315200" cy="27432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No load testing — focus is security, not performance</a:t>
            </a:r>
            <a:endParaRPr lang="en-US" sz="1200" dirty="0"/>
          </a:p>
        </p:txBody>
      </p:sp>
      <p:sp>
        <p:nvSpPr>
          <p:cNvPr id="17" name="Shape 15"/>
          <p:cNvSpPr/>
          <p:nvPr/>
        </p:nvSpPr>
        <p:spPr>
          <a:xfrm>
            <a:off x="640080" y="3291840"/>
            <a:ext cx="365760" cy="365760"/>
          </a:xfrm>
          <a:prstGeom prst="ellipse">
            <a:avLst/>
          </a:prstGeom>
          <a:solidFill>
            <a:srgbClr val="241934"/>
          </a:solidFill>
          <a:ln w="19050">
            <a:solidFill>
              <a:srgbClr val="FFB400"/>
            </a:solidFill>
            <a:prstDash val="solid"/>
          </a:ln>
        </p:spPr>
      </p:sp>
      <p:sp>
        <p:nvSpPr>
          <p:cNvPr id="18" name="Text 16"/>
          <p:cNvSpPr/>
          <p:nvPr/>
        </p:nvSpPr>
        <p:spPr>
          <a:xfrm>
            <a:off x="640080" y="3291840"/>
            <a:ext cx="365760" cy="365760"/>
          </a:xfrm>
          <a:prstGeom prst="rect">
            <a:avLst/>
          </a:prstGeom>
          <a:noFill/>
          <a:ln/>
        </p:spPr>
        <p:txBody>
          <a:bodyPr wrap="square" lIns="0" tIns="0" rIns="0" bIns="0" rtlCol="0" anchor="ctr"/>
          <a:lstStyle/>
          <a:p>
            <a:pPr algn="ctr" indent="0" marL="0">
              <a:buNone/>
            </a:pPr>
            <a:r>
              <a:rPr lang="en-US" sz="1400" b="1" dirty="0">
                <a:solidFill>
                  <a:srgbClr val="FFB400"/>
                </a:solidFill>
                <a:latin typeface="Arial Black" pitchFamily="34" charset="0"/>
                <a:ea typeface="Arial Black" pitchFamily="34" charset="-122"/>
                <a:cs typeface="Arial Black" pitchFamily="34" charset="-120"/>
              </a:rPr>
              <a:t>4</a:t>
            </a:r>
            <a:endParaRPr lang="en-US" sz="1400" dirty="0"/>
          </a:p>
        </p:txBody>
      </p:sp>
      <p:sp>
        <p:nvSpPr>
          <p:cNvPr id="19" name="Text 17"/>
          <p:cNvSpPr/>
          <p:nvPr/>
        </p:nvSpPr>
        <p:spPr>
          <a:xfrm>
            <a:off x="1143000" y="3200400"/>
            <a:ext cx="731520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One developer, one repo</a:t>
            </a:r>
            <a:endParaRPr lang="en-US" sz="1500" dirty="0"/>
          </a:p>
        </p:txBody>
      </p:sp>
      <p:sp>
        <p:nvSpPr>
          <p:cNvPr id="20" name="Text 18"/>
          <p:cNvSpPr/>
          <p:nvPr/>
        </p:nvSpPr>
        <p:spPr>
          <a:xfrm>
            <a:off x="1143000" y="3493008"/>
            <a:ext cx="7315200" cy="27432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No cross-team simulation — single-actor model</a:t>
            </a:r>
            <a:endParaRPr lang="en-US" sz="1200" dirty="0"/>
          </a:p>
        </p:txBody>
      </p:sp>
      <p:sp>
        <p:nvSpPr>
          <p:cNvPr id="21" name="Shape 19"/>
          <p:cNvSpPr/>
          <p:nvPr/>
        </p:nvSpPr>
        <p:spPr>
          <a:xfrm>
            <a:off x="640080" y="3931920"/>
            <a:ext cx="365760" cy="365760"/>
          </a:xfrm>
          <a:prstGeom prst="ellipse">
            <a:avLst/>
          </a:prstGeom>
          <a:solidFill>
            <a:srgbClr val="241934"/>
          </a:solidFill>
          <a:ln w="19050">
            <a:solidFill>
              <a:srgbClr val="FFB400"/>
            </a:solidFill>
            <a:prstDash val="solid"/>
          </a:ln>
        </p:spPr>
      </p:sp>
      <p:sp>
        <p:nvSpPr>
          <p:cNvPr id="22" name="Text 20"/>
          <p:cNvSpPr/>
          <p:nvPr/>
        </p:nvSpPr>
        <p:spPr>
          <a:xfrm>
            <a:off x="640080" y="3931920"/>
            <a:ext cx="365760" cy="365760"/>
          </a:xfrm>
          <a:prstGeom prst="rect">
            <a:avLst/>
          </a:prstGeom>
          <a:noFill/>
          <a:ln/>
        </p:spPr>
        <p:txBody>
          <a:bodyPr wrap="square" lIns="0" tIns="0" rIns="0" bIns="0" rtlCol="0" anchor="ctr"/>
          <a:lstStyle/>
          <a:p>
            <a:pPr algn="ctr" indent="0" marL="0">
              <a:buNone/>
            </a:pPr>
            <a:r>
              <a:rPr lang="en-US" sz="1400" b="1" dirty="0">
                <a:solidFill>
                  <a:srgbClr val="FFB400"/>
                </a:solidFill>
                <a:latin typeface="Arial Black" pitchFamily="34" charset="0"/>
                <a:ea typeface="Arial Black" pitchFamily="34" charset="-122"/>
                <a:cs typeface="Arial Black" pitchFamily="34" charset="-120"/>
              </a:rPr>
              <a:t>5</a:t>
            </a:r>
            <a:endParaRPr lang="en-US" sz="1400" dirty="0"/>
          </a:p>
        </p:txBody>
      </p:sp>
      <p:sp>
        <p:nvSpPr>
          <p:cNvPr id="23" name="Text 21"/>
          <p:cNvSpPr/>
          <p:nvPr/>
        </p:nvSpPr>
        <p:spPr>
          <a:xfrm>
            <a:off x="1143000" y="3840480"/>
            <a:ext cx="731520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Cloud deployment designed</a:t>
            </a:r>
            <a:endParaRPr lang="en-US" sz="1500" dirty="0"/>
          </a:p>
        </p:txBody>
      </p:sp>
      <p:sp>
        <p:nvSpPr>
          <p:cNvPr id="24" name="Text 22"/>
          <p:cNvSpPr/>
          <p:nvPr/>
        </p:nvSpPr>
        <p:spPr>
          <a:xfrm>
            <a:off x="1143000" y="4133088"/>
            <a:ext cx="7315200" cy="27432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But out of implementation scope — see Future Work</a:t>
            </a:r>
            <a:endParaRPr lang="en-US" sz="1200" dirty="0"/>
          </a:p>
        </p:txBody>
      </p:sp>
      <p:sp>
        <p:nvSpPr>
          <p:cNvPr id="25" name="Text 23"/>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26" name="Text 24"/>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2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B42BC"/>
          </a:solidFill>
          <a:ln w="12700">
            <a:solidFill>
              <a:srgbClr val="7B42BC"/>
            </a:solidFill>
            <a:prstDash val="solid"/>
          </a:ln>
        </p:spPr>
      </p:sp>
      <p:sp>
        <p:nvSpPr>
          <p:cNvPr id="3" name="Text 1"/>
          <p:cNvSpPr/>
          <p:nvPr/>
        </p:nvSpPr>
        <p:spPr>
          <a:xfrm>
            <a:off x="457200" y="3200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Future Work</a:t>
            </a:r>
            <a:endParaRPr lang="en-US" sz="3200" dirty="0"/>
          </a:p>
        </p:txBody>
      </p:sp>
      <p:sp>
        <p:nvSpPr>
          <p:cNvPr id="4" name="Shape 2"/>
          <p:cNvSpPr/>
          <p:nvPr/>
        </p:nvSpPr>
        <p:spPr>
          <a:xfrm>
            <a:off x="457200" y="932688"/>
            <a:ext cx="548640" cy="45720"/>
          </a:xfrm>
          <a:prstGeom prst="rect">
            <a:avLst/>
          </a:prstGeom>
          <a:solidFill>
            <a:srgbClr val="FFB400"/>
          </a:solidFill>
          <a:ln w="12700">
            <a:solidFill>
              <a:srgbClr val="FFB400"/>
            </a:solidFill>
            <a:prstDash val="solid"/>
          </a:ln>
        </p:spPr>
      </p:sp>
      <p:sp>
        <p:nvSpPr>
          <p:cNvPr id="5" name="Shape 3"/>
          <p:cNvSpPr/>
          <p:nvPr/>
        </p:nvSpPr>
        <p:spPr>
          <a:xfrm>
            <a:off x="457200" y="1234440"/>
            <a:ext cx="4023360" cy="1554480"/>
          </a:xfrm>
          <a:prstGeom prst="rect">
            <a:avLst/>
          </a:prstGeom>
          <a:solidFill>
            <a:srgbClr val="241934"/>
          </a:solidFill>
          <a:ln w="12700">
            <a:solidFill>
              <a:srgbClr val="7B42BC"/>
            </a:solidFill>
            <a:prstDash val="solid"/>
          </a:ln>
        </p:spPr>
      </p:sp>
      <p:sp>
        <p:nvSpPr>
          <p:cNvPr id="6" name="Text 4"/>
          <p:cNvSpPr/>
          <p:nvPr/>
        </p:nvSpPr>
        <p:spPr>
          <a:xfrm>
            <a:off x="640080" y="137160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01</a:t>
            </a:r>
            <a:endParaRPr lang="en-US" sz="2800" dirty="0"/>
          </a:p>
        </p:txBody>
      </p:sp>
      <p:sp>
        <p:nvSpPr>
          <p:cNvPr id="7" name="Text 5"/>
          <p:cNvSpPr/>
          <p:nvPr/>
        </p:nvSpPr>
        <p:spPr>
          <a:xfrm>
            <a:off x="1463040" y="1417320"/>
            <a:ext cx="28346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Cloud-native deployment</a:t>
            </a:r>
            <a:endParaRPr lang="en-US" sz="1600" dirty="0"/>
          </a:p>
        </p:txBody>
      </p:sp>
      <p:sp>
        <p:nvSpPr>
          <p:cNvPr id="8" name="Text 6"/>
          <p:cNvSpPr/>
          <p:nvPr/>
        </p:nvSpPr>
        <p:spPr>
          <a:xfrm>
            <a:off x="685800" y="2057400"/>
            <a:ext cx="3566160" cy="64008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AWS ECS Fargate · RDS · ALB · WAF — Terraform-defined</a:t>
            </a:r>
            <a:endParaRPr lang="en-US" sz="1200" dirty="0"/>
          </a:p>
        </p:txBody>
      </p:sp>
      <p:sp>
        <p:nvSpPr>
          <p:cNvPr id="9" name="Shape 7"/>
          <p:cNvSpPr/>
          <p:nvPr/>
        </p:nvSpPr>
        <p:spPr>
          <a:xfrm>
            <a:off x="4663440" y="1234440"/>
            <a:ext cx="4023360" cy="1554480"/>
          </a:xfrm>
          <a:prstGeom prst="rect">
            <a:avLst/>
          </a:prstGeom>
          <a:solidFill>
            <a:srgbClr val="241934"/>
          </a:solidFill>
          <a:ln w="12700">
            <a:solidFill>
              <a:srgbClr val="7B42BC"/>
            </a:solidFill>
            <a:prstDash val="solid"/>
          </a:ln>
        </p:spPr>
      </p:sp>
      <p:sp>
        <p:nvSpPr>
          <p:cNvPr id="10" name="Text 8"/>
          <p:cNvSpPr/>
          <p:nvPr/>
        </p:nvSpPr>
        <p:spPr>
          <a:xfrm>
            <a:off x="4846320" y="137160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02</a:t>
            </a:r>
            <a:endParaRPr lang="en-US" sz="2800" dirty="0"/>
          </a:p>
        </p:txBody>
      </p:sp>
      <p:sp>
        <p:nvSpPr>
          <p:cNvPr id="11" name="Text 9"/>
          <p:cNvSpPr/>
          <p:nvPr/>
        </p:nvSpPr>
        <p:spPr>
          <a:xfrm>
            <a:off x="5669280" y="1417320"/>
            <a:ext cx="28346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Runtime threat detection</a:t>
            </a:r>
            <a:endParaRPr lang="en-US" sz="1600" dirty="0"/>
          </a:p>
        </p:txBody>
      </p:sp>
      <p:sp>
        <p:nvSpPr>
          <p:cNvPr id="12" name="Text 10"/>
          <p:cNvSpPr/>
          <p:nvPr/>
        </p:nvSpPr>
        <p:spPr>
          <a:xfrm>
            <a:off x="4892040" y="2057400"/>
            <a:ext cx="3566160" cy="64008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Falco / GuardDuty for behavioral anomalies</a:t>
            </a:r>
            <a:endParaRPr lang="en-US" sz="1200" dirty="0"/>
          </a:p>
        </p:txBody>
      </p:sp>
      <p:sp>
        <p:nvSpPr>
          <p:cNvPr id="13" name="Shape 11"/>
          <p:cNvSpPr/>
          <p:nvPr/>
        </p:nvSpPr>
        <p:spPr>
          <a:xfrm>
            <a:off x="457200" y="2971800"/>
            <a:ext cx="4023360" cy="1554480"/>
          </a:xfrm>
          <a:prstGeom prst="rect">
            <a:avLst/>
          </a:prstGeom>
          <a:solidFill>
            <a:srgbClr val="241934"/>
          </a:solidFill>
          <a:ln w="12700">
            <a:solidFill>
              <a:srgbClr val="7B42BC"/>
            </a:solidFill>
            <a:prstDash val="solid"/>
          </a:ln>
        </p:spPr>
      </p:sp>
      <p:sp>
        <p:nvSpPr>
          <p:cNvPr id="14" name="Text 12"/>
          <p:cNvSpPr/>
          <p:nvPr/>
        </p:nvSpPr>
        <p:spPr>
          <a:xfrm>
            <a:off x="640080" y="310896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03</a:t>
            </a:r>
            <a:endParaRPr lang="en-US" sz="2800" dirty="0"/>
          </a:p>
        </p:txBody>
      </p:sp>
      <p:sp>
        <p:nvSpPr>
          <p:cNvPr id="15" name="Text 13"/>
          <p:cNvSpPr/>
          <p:nvPr/>
        </p:nvSpPr>
        <p:spPr>
          <a:xfrm>
            <a:off x="1463040" y="3154680"/>
            <a:ext cx="28346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GitOps promotion</a:t>
            </a:r>
            <a:endParaRPr lang="en-US" sz="1600" dirty="0"/>
          </a:p>
        </p:txBody>
      </p:sp>
      <p:sp>
        <p:nvSpPr>
          <p:cNvPr id="16" name="Text 14"/>
          <p:cNvSpPr/>
          <p:nvPr/>
        </p:nvSpPr>
        <p:spPr>
          <a:xfrm>
            <a:off x="685800" y="3794760"/>
            <a:ext cx="3566160" cy="64008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ArgoCD multi-environment (staging → pre-prod → prod)</a:t>
            </a:r>
            <a:endParaRPr lang="en-US" sz="1200" dirty="0"/>
          </a:p>
        </p:txBody>
      </p:sp>
      <p:sp>
        <p:nvSpPr>
          <p:cNvPr id="17" name="Shape 15"/>
          <p:cNvSpPr/>
          <p:nvPr/>
        </p:nvSpPr>
        <p:spPr>
          <a:xfrm>
            <a:off x="4663440" y="2971800"/>
            <a:ext cx="4023360" cy="1554480"/>
          </a:xfrm>
          <a:prstGeom prst="rect">
            <a:avLst/>
          </a:prstGeom>
          <a:solidFill>
            <a:srgbClr val="241934"/>
          </a:solidFill>
          <a:ln w="12700">
            <a:solidFill>
              <a:srgbClr val="7B42BC"/>
            </a:solidFill>
            <a:prstDash val="solid"/>
          </a:ln>
        </p:spPr>
      </p:sp>
      <p:sp>
        <p:nvSpPr>
          <p:cNvPr id="18" name="Text 16"/>
          <p:cNvSpPr/>
          <p:nvPr/>
        </p:nvSpPr>
        <p:spPr>
          <a:xfrm>
            <a:off x="4846320" y="3108960"/>
            <a:ext cx="822960" cy="457200"/>
          </a:xfrm>
          <a:prstGeom prst="rect">
            <a:avLst/>
          </a:prstGeom>
          <a:noFill/>
          <a:ln/>
        </p:spPr>
        <p:txBody>
          <a:bodyPr wrap="square" lIns="0" tIns="0" rIns="0" bIns="0" rtlCol="0" anchor="ctr"/>
          <a:lstStyle/>
          <a:p>
            <a:pPr indent="0" marL="0">
              <a:buNone/>
            </a:pPr>
            <a:r>
              <a:rPr lang="en-US" sz="2800" b="1" dirty="0">
                <a:solidFill>
                  <a:srgbClr val="FFB400"/>
                </a:solidFill>
                <a:latin typeface="Arial Black" pitchFamily="34" charset="0"/>
                <a:ea typeface="Arial Black" pitchFamily="34" charset="-122"/>
                <a:cs typeface="Arial Black" pitchFamily="34" charset="-120"/>
              </a:rPr>
              <a:t>04</a:t>
            </a:r>
            <a:endParaRPr lang="en-US" sz="2800" dirty="0"/>
          </a:p>
        </p:txBody>
      </p:sp>
      <p:sp>
        <p:nvSpPr>
          <p:cNvPr id="19" name="Text 17"/>
          <p:cNvSpPr/>
          <p:nvPr/>
        </p:nvSpPr>
        <p:spPr>
          <a:xfrm>
            <a:off x="5669280" y="3154680"/>
            <a:ext cx="28346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IAST instrumentation</a:t>
            </a:r>
            <a:endParaRPr lang="en-US" sz="1600" dirty="0"/>
          </a:p>
        </p:txBody>
      </p:sp>
      <p:sp>
        <p:nvSpPr>
          <p:cNvPr id="20" name="Text 18"/>
          <p:cNvSpPr/>
          <p:nvPr/>
        </p:nvSpPr>
        <p:spPr>
          <a:xfrm>
            <a:off x="4892040" y="3794760"/>
            <a:ext cx="3566160" cy="640080"/>
          </a:xfrm>
          <a:prstGeom prst="rect">
            <a:avLst/>
          </a:prstGeom>
          <a:noFill/>
          <a:ln/>
        </p:spPr>
        <p:txBody>
          <a:bodyPr wrap="square" lIns="0" tIns="0" rIns="0" bIns="0" rtlCol="0" anchor="t"/>
          <a:lstStyle/>
          <a:p>
            <a:pPr indent="0" marL="0">
              <a:buNone/>
            </a:pPr>
            <a:r>
              <a:rPr lang="en-US" sz="1200" dirty="0">
                <a:solidFill>
                  <a:srgbClr val="B8B5C0"/>
                </a:solidFill>
                <a:latin typeface="Calibri" pitchFamily="34" charset="0"/>
                <a:ea typeface="Calibri" pitchFamily="34" charset="-122"/>
                <a:cs typeface="Calibri" pitchFamily="34" charset="-120"/>
              </a:rPr>
              <a:t>Runtime SAST as second-line defence (Contrast-style)</a:t>
            </a:r>
            <a:endParaRPr lang="en-US" sz="1200" dirty="0"/>
          </a:p>
        </p:txBody>
      </p:sp>
      <p:sp>
        <p:nvSpPr>
          <p:cNvPr id="21" name="Text 19"/>
          <p:cNvSpPr/>
          <p:nvPr/>
        </p:nvSpPr>
        <p:spPr>
          <a:xfrm>
            <a:off x="7680960" y="4864608"/>
            <a:ext cx="914400" cy="228600"/>
          </a:xfrm>
          <a:prstGeom prst="rect">
            <a:avLst/>
          </a:prstGeom>
          <a:noFill/>
          <a:ln/>
        </p:spPr>
        <p:txBody>
          <a:bodyPr wrap="square" lIns="0" tIns="0" rIns="0" bIns="0" rtlCol="0" anchor="ctr"/>
          <a:lstStyle/>
          <a:p>
            <a:pPr algn="r" indent="0" marL="0">
              <a:buNone/>
            </a:pPr>
            <a:r>
              <a:rPr lang="en-US" sz="900" dirty="0">
                <a:solidFill>
                  <a:srgbClr val="B8B5C0"/>
                </a:solidFill>
                <a:latin typeface="Calibri" pitchFamily="34" charset="0"/>
                <a:ea typeface="Calibri" pitchFamily="34" charset="-122"/>
                <a:cs typeface="Calibri" pitchFamily="34" charset="-120"/>
              </a:rPr>
              <a:t>AegisFlow</a:t>
            </a:r>
            <a:endParaRPr lang="en-US" sz="900" dirty="0"/>
          </a:p>
        </p:txBody>
      </p:sp>
      <p:sp>
        <p:nvSpPr>
          <p:cNvPr id="22" name="Text 20"/>
          <p:cNvSpPr/>
          <p:nvPr/>
        </p:nvSpPr>
        <p:spPr>
          <a:xfrm>
            <a:off x="8595360" y="4864608"/>
            <a:ext cx="457200" cy="228600"/>
          </a:xfrm>
          <a:prstGeom prst="rect">
            <a:avLst/>
          </a:prstGeom>
          <a:noFill/>
          <a:ln/>
        </p:spPr>
        <p:txBody>
          <a:bodyPr wrap="square" lIns="0" tIns="0" rIns="0" bIns="0" rtlCol="0" anchor="ctr"/>
          <a:lstStyle/>
          <a:p>
            <a:pPr algn="r" indent="0" marL="0">
              <a:buNone/>
            </a:pPr>
            <a:r>
              <a:rPr lang="en-US" sz="900" b="1" dirty="0">
                <a:solidFill>
                  <a:srgbClr val="FFB400"/>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228"/>
        </a:solidFill>
      </p:bgPr>
    </p:bg>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lIns="0" tIns="0" rIns="0" bIns="0" rtlCol="0" anchor="t"/>
          <a:lstStyle/>
          <a:p>
            <a:pPr algn="ctr" indent="0" marL="0">
              <a:buNone/>
            </a:pPr>
            <a:r>
              <a:rPr lang="en-US" sz="11000" b="1" dirty="0">
                <a:solidFill>
                  <a:srgbClr val="FFB400"/>
                </a:solidFill>
                <a:latin typeface="Arial Black" pitchFamily="34" charset="0"/>
                <a:ea typeface="Arial Black" pitchFamily="34" charset="-122"/>
                <a:cs typeface="Arial Black" pitchFamily="34" charset="-120"/>
              </a:rPr>
              <a:t>“</a:t>
            </a:r>
            <a:endParaRPr lang="en-US" sz="11000" dirty="0"/>
          </a:p>
        </p:txBody>
      </p:sp>
      <p:sp>
        <p:nvSpPr>
          <p:cNvPr id="3" name="Text 1"/>
          <p:cNvSpPr/>
          <p:nvPr/>
        </p:nvSpPr>
        <p:spPr>
          <a:xfrm>
            <a:off x="640080" y="1783080"/>
            <a:ext cx="7863840" cy="2011680"/>
          </a:xfrm>
          <a:prstGeom prst="rect">
            <a:avLst/>
          </a:prstGeom>
          <a:noFill/>
          <a:ln/>
        </p:spPr>
        <p:txBody>
          <a:bodyPr wrap="square" lIns="0" tIns="0" rIns="0" bIns="0" rtlCol="0" anchor="ctr"/>
          <a:lstStyle/>
          <a:p>
            <a:pPr algn="ctr" indent="0" marL="0">
              <a:spcAft>
                <a:spcPts val="800"/>
              </a:spcAft>
              <a:buNone/>
            </a:pPr>
            <a:r>
              <a:rPr lang="en-US" sz="2200" dirty="0">
                <a:solidFill>
                  <a:srgbClr val="F5F5F7"/>
                </a:solidFill>
                <a:latin typeface="Calibri" pitchFamily="34" charset="0"/>
                <a:ea typeface="Calibri" pitchFamily="34" charset="-122"/>
                <a:cs typeface="Calibri" pitchFamily="34" charset="-120"/>
              </a:rPr>
              <a:t>AegisFlow makes insecure delivery </a:t>
            </a:r>
            <a:pPr algn="ctr" indent="0" marL="0">
              <a:spcAft>
                <a:spcPts val="800"/>
              </a:spcAft>
              <a:buNone/>
            </a:pPr>
            <a:r>
              <a:rPr lang="en-US" sz="2200" b="1" dirty="0">
                <a:solidFill>
                  <a:srgbClr val="FFB400"/>
                </a:solidFill>
                <a:latin typeface="Calibri" pitchFamily="34" charset="0"/>
                <a:ea typeface="Calibri" pitchFamily="34" charset="-122"/>
                <a:cs typeface="Calibri" pitchFamily="34" charset="-120"/>
              </a:rPr>
              <a:t>structurally difficult.</a:t>
            </a:r>
            <a:endParaRPr lang="en-US" sz="2200" dirty="0"/>
          </a:p>
          <a:p>
            <a:pPr algn="ctr" indent="0" marL="0">
              <a:spcAft>
                <a:spcPts val="800"/>
              </a:spcAft>
              <a:buNone/>
            </a:pPr>
            <a:endParaRPr lang="en-US" sz="2200" dirty="0"/>
          </a:p>
          <a:p>
            <a:pPr algn="ctr" indent="0" marL="0">
              <a:spcAft>
                <a:spcPts val="800"/>
              </a:spcAft>
              <a:buNone/>
            </a:pPr>
            <a:r>
              <a:rPr lang="en-US" sz="2200" dirty="0">
                <a:solidFill>
                  <a:srgbClr val="F5F5F7"/>
                </a:solidFill>
                <a:latin typeface="Calibri" pitchFamily="34" charset="0"/>
                <a:ea typeface="Calibri" pitchFamily="34" charset="-122"/>
                <a:cs typeface="Calibri" pitchFamily="34" charset="-120"/>
              </a:rPr>
              <a:t>Every commit is scanned. Every artifact is inventoried.</a:t>
            </a:r>
            <a:endParaRPr lang="en-US" sz="2200" dirty="0"/>
          </a:p>
          <a:p>
            <a:pPr algn="ctr" indent="0" marL="0">
              <a:spcAft>
                <a:spcPts val="800"/>
              </a:spcAft>
              <a:buNone/>
            </a:pPr>
            <a:r>
              <a:rPr lang="en-US" sz="2200" dirty="0">
                <a:solidFill>
                  <a:srgbClr val="F5F5F7"/>
                </a:solidFill>
                <a:latin typeface="Calibri" pitchFamily="34" charset="0"/>
                <a:ea typeface="Calibri" pitchFamily="34" charset="-122"/>
                <a:cs typeface="Calibri" pitchFamily="34" charset="-120"/>
              </a:rPr>
              <a:t>Every image is signed. Every claim is auditable.</a:t>
            </a:r>
            <a:endParaRPr lang="en-US" sz="2200" dirty="0"/>
          </a:p>
        </p:txBody>
      </p:sp>
      <p:sp>
        <p:nvSpPr>
          <p:cNvPr id="4" name="Shape 2"/>
          <p:cNvSpPr/>
          <p:nvPr/>
        </p:nvSpPr>
        <p:spPr>
          <a:xfrm>
            <a:off x="1828800" y="3931920"/>
            <a:ext cx="5486400" cy="36576"/>
          </a:xfrm>
          <a:prstGeom prst="rect">
            <a:avLst/>
          </a:prstGeom>
          <a:solidFill>
            <a:srgbClr val="7B42BC"/>
          </a:solidFill>
          <a:ln w="12700">
            <a:solidFill>
              <a:srgbClr val="7B42BC"/>
            </a:solidFill>
            <a:prstDash val="solid"/>
          </a:ln>
        </p:spPr>
      </p:sp>
      <p:sp>
        <p:nvSpPr>
          <p:cNvPr id="5" name="Text 3"/>
          <p:cNvSpPr/>
          <p:nvPr/>
        </p:nvSpPr>
        <p:spPr>
          <a:xfrm>
            <a:off x="457200" y="4069080"/>
            <a:ext cx="8229600" cy="1005840"/>
          </a:xfrm>
          <a:prstGeom prst="rect">
            <a:avLst/>
          </a:prstGeom>
          <a:noFill/>
          <a:ln/>
        </p:spPr>
        <p:txBody>
          <a:bodyPr wrap="square" lIns="0" tIns="0" rIns="0" bIns="0" rtlCol="0" anchor="ctr"/>
          <a:lstStyle/>
          <a:p>
            <a:pPr algn="ctr" indent="0" marL="0">
              <a:buNone/>
            </a:pPr>
            <a:r>
              <a:rPr lang="en-US" sz="1200" dirty="0">
                <a:solidFill>
                  <a:srgbClr val="B8B5C0"/>
                </a:solidFill>
                <a:latin typeface="Calibri" pitchFamily="34" charset="0"/>
                <a:ea typeface="Calibri" pitchFamily="34" charset="-122"/>
                <a:cs typeface="Calibri" pitchFamily="34" charset="-120"/>
              </a:rPr>
              <a:t>8 diagrams  ·  22 pipeline stages  ·  5 blocking gates  ·  100% critical findings remediated</a:t>
            </a:r>
            <a:endParaRPr lang="en-US" sz="1200" dirty="0"/>
          </a:p>
          <a:p>
            <a:pPr algn="ctr" indent="0" marL="0">
              <a:buNone/>
            </a:pPr>
            <a:endParaRPr lang="en-US" sz="1200" dirty="0"/>
          </a:p>
          <a:p>
            <a:pPr algn="ctr" indent="0" marL="0">
              <a:buNone/>
            </a:pPr>
            <a:r>
              <a:rPr lang="en-US" sz="1400" dirty="0">
                <a:solidFill>
                  <a:srgbClr val="FFB400"/>
                </a:solidFill>
                <a:latin typeface="Consolas" pitchFamily="34" charset="0"/>
                <a:ea typeface="Consolas" pitchFamily="34" charset="-122"/>
                <a:cs typeface="Consolas" pitchFamily="34" charset="-120"/>
              </a:rPr>
              <a:t>github.com/anlehtouf/AegisFlow-DevSecOps</a:t>
            </a:r>
            <a:endParaRPr lang="en-US" sz="1200" dirty="0"/>
          </a:p>
          <a:p>
            <a:pPr algn="ctr" indent="0" marL="0">
              <a:buNone/>
            </a:pPr>
            <a:endParaRPr lang="en-US" sz="1200" dirty="0"/>
          </a:p>
          <a:p>
            <a:pPr algn="ctr" indent="0" marL="0">
              <a:buNone/>
            </a:pPr>
            <a:r>
              <a:rPr lang="en-US" sz="2000" b="1" i="1" dirty="0">
                <a:solidFill>
                  <a:srgbClr val="FFFFFF"/>
                </a:solidFill>
                <a:latin typeface="Calibri" pitchFamily="34" charset="0"/>
                <a:ea typeface="Calibri" pitchFamily="34" charset="-122"/>
                <a:cs typeface="Calibri" pitchFamily="34" charset="-120"/>
              </a:rPr>
              <a:t>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AegisFlow — DevSecOps with a built-in shield</dc:title>
  <dc:subject>PFE end-of-studies defense</dc:subject>
  <dc:creator>AegisFlow PFE</dc:creator>
  <cp:lastModifiedBy>AegisFlow PFE</cp:lastModifiedBy>
  <cp:revision>1</cp:revision>
  <dcterms:created xsi:type="dcterms:W3CDTF">2026-06-15T13:05:21Z</dcterms:created>
  <dcterms:modified xsi:type="dcterms:W3CDTF">2026-06-15T13:05:21Z</dcterms:modified>
</cp:coreProperties>
</file>